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8" r:id="rId12"/>
    <p:sldId id="269" r:id="rId13"/>
    <p:sldId id="270" r:id="rId14"/>
    <p:sldId id="263" r:id="rId15"/>
    <p:sldId id="271" r:id="rId16"/>
    <p:sldId id="272" r:id="rId17"/>
    <p:sldId id="273" r:id="rId18"/>
    <p:sldId id="267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86431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ody"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988060"/>
            <a:ext cx="10566400" cy="5057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988060"/>
            <a:ext cx="10566400" cy="5057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0D764CD-F368-44F0-1BF7-B1F0E7F4DA5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88969" y="49169"/>
            <a:ext cx="2719060" cy="82828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AF3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55000" y="571500"/>
            <a:ext cx="3302000" cy="3302000"/>
          </a:xfrm>
          <a:prstGeom prst="roundRect">
            <a:avLst>
              <a:gd name="adj" fmla="val 49231"/>
            </a:avLst>
          </a:prstGeom>
          <a:solidFill>
            <a:srgbClr val="CFE3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652000" y="3683000"/>
            <a:ext cx="1905000" cy="1905000"/>
          </a:xfrm>
          <a:prstGeom prst="roundRect">
            <a:avLst>
              <a:gd name="adj" fmla="val 50000"/>
            </a:avLst>
          </a:prstGeom>
          <a:solidFill>
            <a:srgbClr val="C9ECD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810500" y="4127500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FBD9B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0414000" y="2095500"/>
            <a:ext cx="762000" cy="762000"/>
          </a:xfrm>
          <a:prstGeom prst="roundRect">
            <a:avLst>
              <a:gd name="adj" fmla="val 50000"/>
            </a:avLst>
          </a:prstGeom>
          <a:solidFill>
            <a:srgbClr val="DDD5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12800" y="812800"/>
            <a:ext cx="71945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B8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[VIPS-TC / Artificial Intelligence and Data Science] · Academic Year 2023–2027</a:t>
            </a:r>
            <a:endParaRPr lang="en-US" sz="1400" dirty="0"/>
          </a:p>
        </p:txBody>
      </p:sp>
      <p:sp>
        <p:nvSpPr>
          <p:cNvPr id="7" name="Text 5"/>
          <p:cNvSpPr>
            <a:spLocks noGrp="1"/>
          </p:cNvSpPr>
          <p:nvPr>
            <p:ph type="title" idx="4294967295"/>
          </p:nvPr>
        </p:nvSpPr>
        <p:spPr>
          <a:xfrm>
            <a:off x="812800" y="1967230"/>
            <a:ext cx="7194550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880"/>
              </a:lnSpc>
              <a:buNone/>
            </a:pPr>
            <a:r>
              <a:rPr lang="en-US" sz="5600" b="1" dirty="0" err="1"/>
              <a:t>Zap</a:t>
            </a:r>
            <a:r>
              <a:rPr lang="en-US" sz="5600" b="1" i="0" dirty="0" err="1">
                <a:solidFill>
                  <a:srgbClr val="2747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</a:t>
            </a:r>
            <a:endParaRPr lang="en-US" sz="5600" dirty="0"/>
          </a:p>
        </p:txBody>
      </p:sp>
      <p:pic>
        <p:nvPicPr>
          <p:cNvPr id="8" name="Image 0" descr="line"/>
          <p:cNvPicPr>
            <a:picLocks noChangeAspect="1"/>
          </p:cNvPicPr>
          <p:nvPr/>
        </p:nvPicPr>
        <p:blipFill>
          <a:blip r:embed="rId3"/>
          <a:srcRect l="-12500" r="-12500"/>
          <a:stretch/>
        </p:blipFill>
        <p:spPr>
          <a:xfrm>
            <a:off x="812800" y="2891790"/>
            <a:ext cx="6985000" cy="101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12800" y="3079750"/>
            <a:ext cx="719455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00" dirty="0">
                <a:solidFill>
                  <a:srgbClr val="3D5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a video link. Download the full video or one part, and turn any tutorial into a study PDF.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815975" y="4674235"/>
            <a:ext cx="6978650" cy="1367790"/>
          </a:xfrm>
          <a:prstGeom prst="roundRect">
            <a:avLst>
              <a:gd name="adj" fmla="val 9053"/>
            </a:avLst>
          </a:prstGeom>
          <a:solidFill>
            <a:srgbClr val="FFFFFF"/>
          </a:solidFill>
          <a:ln w="6350">
            <a:solidFill>
              <a:srgbClr val="D6E4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3955296"/>
              </p:ext>
            </p:extLst>
          </p:nvPr>
        </p:nvGraphicFramePr>
        <p:xfrm>
          <a:off x="980440" y="4787900"/>
          <a:ext cx="6659880" cy="1150620"/>
        </p:xfrm>
        <a:graphic>
          <a:graphicData uri="http://schemas.openxmlformats.org/drawingml/2006/table">
            <a:tbl>
              <a:tblPr/>
              <a:tblGrid>
                <a:gridCol w="2219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9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9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3540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2747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Team Member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2747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Roll No.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2747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Guide / Mentor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3540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7476E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ARUN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7476E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60617711924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3540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7476E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ASHUTOSH SINGH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7476E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60817711924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E6F0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906000" y="0"/>
            <a:ext cx="952500" cy="952500"/>
          </a:xfrm>
          <a:prstGeom prst="roundRect">
            <a:avLst>
              <a:gd name="adj" fmla="val 50000"/>
            </a:avLst>
          </a:prstGeom>
          <a:solidFill>
            <a:srgbClr val="CFE3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0795000" y="254000"/>
            <a:ext cx="571500" cy="571500"/>
          </a:xfrm>
          <a:prstGeom prst="roundRect">
            <a:avLst>
              <a:gd name="adj" fmla="val 50000"/>
            </a:avLst>
          </a:prstGeom>
          <a:solidFill>
            <a:srgbClr val="C9ECD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9398000" y="44450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FBD9B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0" y="952500"/>
            <a:ext cx="4064000" cy="50800"/>
          </a:xfrm>
          <a:prstGeom prst="rect">
            <a:avLst/>
          </a:prstGeom>
          <a:solidFill>
            <a:srgbClr val="7DB3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064000" y="952500"/>
            <a:ext cx="4064000" cy="50800"/>
          </a:xfrm>
          <a:prstGeom prst="rect">
            <a:avLst/>
          </a:prstGeom>
          <a:solidFill>
            <a:srgbClr val="7FD1A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8128000" y="952500"/>
            <a:ext cx="4064000" cy="50800"/>
          </a:xfrm>
          <a:prstGeom prst="rect">
            <a:avLst/>
          </a:prstGeom>
          <a:solidFill>
            <a:srgbClr val="F6B4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itle 9"/>
          <p:cNvSpPr>
            <a:spLocks noGrp="1"/>
          </p:cNvSpPr>
          <p:nvPr>
            <p:ph type="title" idx="4294967295"/>
          </p:nvPr>
        </p:nvSpPr>
        <p:spPr>
          <a:xfrm>
            <a:off x="812800" y="292100"/>
            <a:ext cx="850265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2747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&amp; Motivation</a:t>
            </a:r>
          </a:p>
        </p:txBody>
      </p:sp>
      <p:sp>
        <p:nvSpPr>
          <p:cNvPr id="10" name="Footer 10"/>
          <p:cNvSpPr txBox="1"/>
          <p:nvPr/>
        </p:nvSpPr>
        <p:spPr>
          <a:xfrm>
            <a:off x="812800" y="6238241"/>
            <a:ext cx="45783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0" i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ZapStream · Project Presentation</a:t>
            </a:r>
          </a:p>
        </p:txBody>
      </p:sp>
      <p:sp>
        <p:nvSpPr>
          <p:cNvPr id="11" name="Footer 11"/>
          <p:cNvSpPr txBox="1"/>
          <p:nvPr/>
        </p:nvSpPr>
        <p:spPr>
          <a:xfrm>
            <a:off x="10058400" y="6238241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1200" b="0" i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18</a:t>
            </a:r>
          </a:p>
        </p:txBody>
      </p:sp>
      <p:sp>
        <p:nvSpPr>
          <p:cNvPr id="17" name="Card 10"/>
          <p:cNvSpPr/>
          <p:nvPr/>
        </p:nvSpPr>
        <p:spPr>
          <a:xfrm>
            <a:off x="812800" y="1397000"/>
            <a:ext cx="5130800" cy="3200000"/>
          </a:xfrm>
          <a:prstGeom prst="roundRect">
            <a:avLst>
              <a:gd name="adj" fmla="val 2857"/>
            </a:avLst>
          </a:prstGeom>
          <a:solidFill>
            <a:srgbClr val="FDEBDC"/>
          </a:solidFill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endParaRPr lang="en-IN"/>
          </a:p>
        </p:txBody>
      </p:sp>
      <p:sp>
        <p:nvSpPr>
          <p:cNvPr id="18" name="Text 11"/>
          <p:cNvSpPr txBox="1"/>
          <p:nvPr/>
        </p:nvSpPr>
        <p:spPr>
          <a:xfrm>
            <a:off x="1041400" y="1600000"/>
            <a:ext cx="46736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spcAft>
                <a:spcPts val="0"/>
              </a:spcAft>
              <a:buNone/>
            </a:pPr>
            <a:r>
              <a:rPr lang="en-US" sz="1700" b="1" i="0" dirty="0">
                <a:solidFill>
                  <a:srgbClr val="2747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real-world problem</a:t>
            </a:r>
            <a:endParaRPr lang="en-US" sz="1700" dirty="0"/>
          </a:p>
        </p:txBody>
      </p:sp>
      <p:sp>
        <p:nvSpPr>
          <p:cNvPr id="12" name="Text 12"/>
          <p:cNvSpPr txBox="1"/>
          <p:nvPr/>
        </p:nvSpPr>
        <p:spPr>
          <a:xfrm>
            <a:off x="1041400" y="2050000"/>
            <a:ext cx="4673600" cy="2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171450" indent="-171450" algn="l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55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Tutorials run </a:t>
            </a:r>
            <a:r>
              <a:rPr lang="en-US" sz="1550" b="1" i="0" dirty="0">
                <a:solidFill>
                  <a:srgbClr val="1D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to 120 minutes</a:t>
            </a:r>
            <a:r>
              <a:rPr lang="en-US" sz="155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but a student usually needs just </a:t>
            </a:r>
            <a:r>
              <a:rPr lang="en-US" sz="1550" b="1" i="0" dirty="0">
                <a:solidFill>
                  <a:srgbClr val="1D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concept or chapter</a:t>
            </a:r>
            <a:r>
              <a:rPr lang="en-US" sz="155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550" dirty="0"/>
          </a:p>
          <a:p>
            <a:pPr marL="171450" indent="-171450" algn="l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55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Revising means </a:t>
            </a:r>
            <a:r>
              <a:rPr lang="en-US" sz="1550" b="1" i="0" dirty="0">
                <a:solidFill>
                  <a:srgbClr val="1D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re-watching</a:t>
            </a:r>
            <a:r>
              <a:rPr lang="en-US" sz="155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whole video and writing notes by hand.</a:t>
            </a:r>
            <a:endParaRPr lang="en-US" sz="1550" dirty="0"/>
          </a:p>
          <a:p>
            <a:pPr marL="171450" indent="-171450" algn="l">
              <a:lnSpc>
                <a:spcPct val="108000"/>
              </a:lnSpc>
              <a:spcAft>
                <a:spcPts val="0"/>
              </a:spcAft>
              <a:buSzPct val="100000"/>
              <a:buChar char="•"/>
            </a:pPr>
            <a:r>
              <a:rPr lang="en-US" sz="155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 or costly internet makes repeated streaming hard.</a:t>
            </a:r>
            <a:endParaRPr lang="en-US" sz="1550" dirty="0"/>
          </a:p>
        </p:txBody>
      </p:sp>
      <p:sp>
        <p:nvSpPr>
          <p:cNvPr id="13" name="Card 13"/>
          <p:cNvSpPr/>
          <p:nvPr/>
        </p:nvSpPr>
        <p:spPr>
          <a:xfrm>
            <a:off x="6248400" y="1397000"/>
            <a:ext cx="5130800" cy="3200000"/>
          </a:xfrm>
          <a:prstGeom prst="roundRect">
            <a:avLst>
              <a:gd name="adj" fmla="val 2857"/>
            </a:avLst>
          </a:prstGeom>
          <a:solidFill>
            <a:srgbClr val="E3EFFD"/>
          </a:solidFill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endParaRPr lang="en-IN"/>
          </a:p>
        </p:txBody>
      </p:sp>
      <p:sp>
        <p:nvSpPr>
          <p:cNvPr id="14" name="Text 14"/>
          <p:cNvSpPr txBox="1"/>
          <p:nvPr/>
        </p:nvSpPr>
        <p:spPr>
          <a:xfrm>
            <a:off x="6477000" y="1600000"/>
            <a:ext cx="46736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spcAft>
                <a:spcPts val="0"/>
              </a:spcAft>
              <a:buNone/>
            </a:pPr>
            <a:r>
              <a:rPr lang="en-US" sz="1700" b="1" i="0" dirty="0">
                <a:solidFill>
                  <a:srgbClr val="2747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existing solutions fall short</a:t>
            </a:r>
            <a:endParaRPr lang="en-US" sz="1700" dirty="0"/>
          </a:p>
        </p:txBody>
      </p:sp>
      <p:sp>
        <p:nvSpPr>
          <p:cNvPr id="15" name="Text 15"/>
          <p:cNvSpPr txBox="1"/>
          <p:nvPr/>
        </p:nvSpPr>
        <p:spPr>
          <a:xfrm>
            <a:off x="6477000" y="2050000"/>
            <a:ext cx="4673600" cy="2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171450" indent="-171450" algn="l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55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Downloaders save only the </a:t>
            </a:r>
            <a:r>
              <a:rPr lang="en-US" sz="1550" b="1" i="0" dirty="0">
                <a:solidFill>
                  <a:srgbClr val="1D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file</a:t>
            </a:r>
            <a:r>
              <a:rPr lang="en-US" sz="155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no option to take one part.</a:t>
            </a:r>
            <a:endParaRPr lang="en-US" sz="1550" dirty="0"/>
          </a:p>
          <a:p>
            <a:pPr marL="171450" indent="-171450" algn="l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55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stop at the file: </a:t>
            </a:r>
            <a:r>
              <a:rPr lang="en-US" sz="1550" b="1" i="0" dirty="0">
                <a:solidFill>
                  <a:srgbClr val="1D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notes</a:t>
            </a:r>
            <a:r>
              <a:rPr lang="en-US" sz="155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summary, glossary or quiz.</a:t>
            </a:r>
            <a:endParaRPr lang="en-US" sz="1550" dirty="0"/>
          </a:p>
          <a:p>
            <a:pPr marL="171450" indent="-171450" algn="l">
              <a:lnSpc>
                <a:spcPct val="108000"/>
              </a:lnSpc>
              <a:spcAft>
                <a:spcPts val="0"/>
              </a:spcAft>
              <a:buSzPct val="100000"/>
              <a:buChar char="•"/>
            </a:pPr>
            <a:r>
              <a:rPr lang="en-US" sz="155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AI note tools need accounts, paid keys and </a:t>
            </a:r>
            <a:r>
              <a:rPr lang="en-US" sz="1550" b="1" i="0" dirty="0">
                <a:solidFill>
                  <a:srgbClr val="1D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student data</a:t>
            </a:r>
            <a:r>
              <a:rPr lang="en-US" sz="155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550" dirty="0"/>
          </a:p>
        </p:txBody>
      </p:sp>
      <p:sp>
        <p:nvSpPr>
          <p:cNvPr id="16" name="Callout 16"/>
          <p:cNvSpPr/>
          <p:nvPr/>
        </p:nvSpPr>
        <p:spPr>
          <a:xfrm>
            <a:off x="812800" y="4800000"/>
            <a:ext cx="10566400" cy="1050000"/>
          </a:xfrm>
          <a:prstGeom prst="roundRect">
            <a:avLst>
              <a:gd name="adj" fmla="val 9000"/>
            </a:avLst>
          </a:prstGeom>
          <a:solidFill>
            <a:srgbClr val="FEF3C7"/>
          </a:solidFill>
          <a:ln>
            <a:noFill/>
          </a:ln>
        </p:spPr>
        <p:txBody>
          <a:bodyPr wrap="square" lIns="182880" tIns="182880" rIns="182880" bIns="182880" rtlCol="0" anchor="ctr">
            <a:norm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1F2937"/>
                </a:solidFill>
                <a:highlight>
                  <a:srgbClr val="FFF0A8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statement:</a:t>
            </a:r>
            <a:r>
              <a:rPr lang="en-US" sz="15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Students need one simple tool that turns a video link into what they actually study: the </a:t>
            </a:r>
            <a:r>
              <a:rPr lang="en-US" sz="1500" b="1" i="0" dirty="0">
                <a:solidFill>
                  <a:srgbClr val="1D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video or only the needed part</a:t>
            </a:r>
            <a:r>
              <a:rPr lang="en-US" sz="15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plus </a:t>
            </a:r>
            <a:r>
              <a:rPr lang="en-US" sz="1500" b="1" i="0" dirty="0">
                <a:solidFill>
                  <a:srgbClr val="1D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ready-made study notes</a:t>
            </a:r>
            <a:r>
              <a:rPr lang="en-US" sz="15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Today this takes several apps and a lot of manual work.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E6F0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906000" y="0"/>
            <a:ext cx="952500" cy="952500"/>
          </a:xfrm>
          <a:prstGeom prst="roundRect">
            <a:avLst>
              <a:gd name="adj" fmla="val 50000"/>
            </a:avLst>
          </a:prstGeom>
          <a:solidFill>
            <a:srgbClr val="CFE3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0795000" y="254000"/>
            <a:ext cx="571500" cy="571500"/>
          </a:xfrm>
          <a:prstGeom prst="roundRect">
            <a:avLst>
              <a:gd name="adj" fmla="val 50000"/>
            </a:avLst>
          </a:prstGeom>
          <a:solidFill>
            <a:srgbClr val="C9ECD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9398000" y="44450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FBD9B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0" y="952500"/>
            <a:ext cx="4064000" cy="50800"/>
          </a:xfrm>
          <a:prstGeom prst="rect">
            <a:avLst/>
          </a:prstGeom>
          <a:solidFill>
            <a:srgbClr val="7DB3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064000" y="952500"/>
            <a:ext cx="4064000" cy="50800"/>
          </a:xfrm>
          <a:prstGeom prst="rect">
            <a:avLst/>
          </a:prstGeom>
          <a:solidFill>
            <a:srgbClr val="7FD1A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8128000" y="952500"/>
            <a:ext cx="4064000" cy="50800"/>
          </a:xfrm>
          <a:prstGeom prst="rect">
            <a:avLst/>
          </a:prstGeom>
          <a:solidFill>
            <a:srgbClr val="F6B4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itle 9"/>
          <p:cNvSpPr>
            <a:spLocks noGrp="1"/>
          </p:cNvSpPr>
          <p:nvPr>
            <p:ph type="title" idx="4294967295"/>
          </p:nvPr>
        </p:nvSpPr>
        <p:spPr>
          <a:xfrm>
            <a:off x="812800" y="292100"/>
            <a:ext cx="850265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2747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Solution &amp; Objectives</a:t>
            </a:r>
          </a:p>
        </p:txBody>
      </p:sp>
      <p:sp>
        <p:nvSpPr>
          <p:cNvPr id="10" name="Footer 10"/>
          <p:cNvSpPr txBox="1"/>
          <p:nvPr/>
        </p:nvSpPr>
        <p:spPr>
          <a:xfrm>
            <a:off x="812800" y="6238241"/>
            <a:ext cx="45783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0" i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ZapStream · Project Presentation</a:t>
            </a:r>
          </a:p>
        </p:txBody>
      </p:sp>
      <p:sp>
        <p:nvSpPr>
          <p:cNvPr id="11" name="Footer 11"/>
          <p:cNvSpPr txBox="1"/>
          <p:nvPr/>
        </p:nvSpPr>
        <p:spPr>
          <a:xfrm>
            <a:off x="10058400" y="6238241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1200" b="0" i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18</a:t>
            </a:r>
          </a:p>
        </p:txBody>
      </p:sp>
      <p:sp>
        <p:nvSpPr>
          <p:cNvPr id="21" name="Text 10"/>
          <p:cNvSpPr txBox="1"/>
          <p:nvPr/>
        </p:nvSpPr>
        <p:spPr>
          <a:xfrm>
            <a:off x="812800" y="1330000"/>
            <a:ext cx="10566400" cy="6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ZapStream takes a </a:t>
            </a:r>
            <a:r>
              <a:rPr lang="en-US" sz="1600" b="1" i="0" dirty="0">
                <a:solidFill>
                  <a:srgbClr val="1D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link</a:t>
            </a:r>
            <a:r>
              <a:rPr lang="en-US" sz="16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shows its details, downloads the </a:t>
            </a:r>
            <a:r>
              <a:rPr lang="en-US" sz="1600" b="1" i="0" dirty="0">
                <a:solidFill>
                  <a:srgbClr val="1D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video or only a chosen time range</a:t>
            </a:r>
            <a:r>
              <a:rPr lang="en-US" sz="16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and turns the video captions into a </a:t>
            </a:r>
            <a:r>
              <a:rPr lang="en-US" sz="1600" b="1" i="0" dirty="0">
                <a:solidFill>
                  <a:srgbClr val="1D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PDF</a:t>
            </a:r>
            <a:r>
              <a:rPr lang="en-US" sz="16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using a local AI model.</a:t>
            </a:r>
            <a:endParaRPr lang="en-US" sz="1600" dirty="0"/>
          </a:p>
        </p:txBody>
      </p:sp>
      <p:sp>
        <p:nvSpPr>
          <p:cNvPr id="22" name="Card 11"/>
          <p:cNvSpPr/>
          <p:nvPr/>
        </p:nvSpPr>
        <p:spPr>
          <a:xfrm>
            <a:off x="812800" y="2200000"/>
            <a:ext cx="3352800" cy="2650000"/>
          </a:xfrm>
          <a:prstGeom prst="roundRect">
            <a:avLst>
              <a:gd name="adj" fmla="val 2857"/>
            </a:avLst>
          </a:prstGeom>
          <a:solidFill>
            <a:srgbClr val="FDEBDC"/>
          </a:solidFill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endParaRPr lang="en-IN"/>
          </a:p>
        </p:txBody>
      </p:sp>
      <p:sp>
        <p:nvSpPr>
          <p:cNvPr id="12" name="Text 12"/>
          <p:cNvSpPr txBox="1"/>
          <p:nvPr/>
        </p:nvSpPr>
        <p:spPr>
          <a:xfrm>
            <a:off x="1002800" y="2400000"/>
            <a:ext cx="2972800" cy="6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2747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Smart info and download</a:t>
            </a:r>
            <a:endParaRPr lang="en-US" sz="1600" dirty="0"/>
          </a:p>
        </p:txBody>
      </p:sp>
      <p:sp>
        <p:nvSpPr>
          <p:cNvPr id="13" name="Text 13"/>
          <p:cNvSpPr txBox="1"/>
          <p:nvPr/>
        </p:nvSpPr>
        <p:spPr>
          <a:xfrm>
            <a:off x="1002800" y="3100000"/>
            <a:ext cx="2972800" cy="16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a link to see title, channel, duration, views and likes. Pick MP4 (1080p to 360p) or MP3, and cut a part with start and end time.</a:t>
            </a:r>
            <a:endParaRPr lang="en-US" sz="1500" dirty="0"/>
          </a:p>
        </p:txBody>
      </p:sp>
      <p:sp>
        <p:nvSpPr>
          <p:cNvPr id="14" name="Card 14"/>
          <p:cNvSpPr/>
          <p:nvPr/>
        </p:nvSpPr>
        <p:spPr>
          <a:xfrm>
            <a:off x="4419600" y="2200000"/>
            <a:ext cx="3352800" cy="2650000"/>
          </a:xfrm>
          <a:prstGeom prst="roundRect">
            <a:avLst>
              <a:gd name="adj" fmla="val 2857"/>
            </a:avLst>
          </a:prstGeom>
          <a:solidFill>
            <a:srgbClr val="E3EFFD"/>
          </a:solidFill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endParaRPr lang="en-IN"/>
          </a:p>
        </p:txBody>
      </p:sp>
      <p:sp>
        <p:nvSpPr>
          <p:cNvPr id="15" name="Text 15"/>
          <p:cNvSpPr txBox="1"/>
          <p:nvPr/>
        </p:nvSpPr>
        <p:spPr>
          <a:xfrm>
            <a:off x="4609600" y="2400000"/>
            <a:ext cx="2972800" cy="6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2747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AI-written study PDF</a:t>
            </a:r>
            <a:endParaRPr lang="en-US" sz="1600" dirty="0"/>
          </a:p>
        </p:txBody>
      </p:sp>
      <p:sp>
        <p:nvSpPr>
          <p:cNvPr id="16" name="Text 16"/>
          <p:cNvSpPr txBox="1"/>
          <p:nvPr/>
        </p:nvSpPr>
        <p:spPr>
          <a:xfrm>
            <a:off x="4609600" y="3100000"/>
            <a:ext cx="2972800" cy="16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Captions are split into parts. The AI writes concepts, examples, steps, a glossary, a revision sheet and a quiz.</a:t>
            </a:r>
            <a:endParaRPr lang="en-US" sz="1500" dirty="0"/>
          </a:p>
        </p:txBody>
      </p:sp>
      <p:sp>
        <p:nvSpPr>
          <p:cNvPr id="17" name="Card 17"/>
          <p:cNvSpPr/>
          <p:nvPr/>
        </p:nvSpPr>
        <p:spPr>
          <a:xfrm>
            <a:off x="8026400" y="2200000"/>
            <a:ext cx="3352800" cy="2650000"/>
          </a:xfrm>
          <a:prstGeom prst="roundRect">
            <a:avLst>
              <a:gd name="adj" fmla="val 2857"/>
            </a:avLst>
          </a:prstGeom>
          <a:solidFill>
            <a:srgbClr val="DEF4EA"/>
          </a:solidFill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endParaRPr lang="en-IN"/>
          </a:p>
        </p:txBody>
      </p:sp>
      <p:sp>
        <p:nvSpPr>
          <p:cNvPr id="18" name="Text 18"/>
          <p:cNvSpPr txBox="1"/>
          <p:nvPr/>
        </p:nvSpPr>
        <p:spPr>
          <a:xfrm>
            <a:off x="8216400" y="2400000"/>
            <a:ext cx="2972800" cy="6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2747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Simple and private</a:t>
            </a:r>
            <a:endParaRPr lang="en-US" sz="1600" dirty="0"/>
          </a:p>
        </p:txBody>
      </p:sp>
      <p:sp>
        <p:nvSpPr>
          <p:cNvPr id="19" name="Text 19"/>
          <p:cNvSpPr txBox="1"/>
          <p:nvPr/>
        </p:nvSpPr>
        <p:spPr>
          <a:xfrm>
            <a:off x="8216400" y="3100000"/>
            <a:ext cx="2972800" cy="16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backend starts when VS Code opens the folder. Ollama runs the AI on the laptop: free, offline and private.</a:t>
            </a:r>
            <a:endParaRPr lang="en-US" sz="1500" dirty="0"/>
          </a:p>
        </p:txBody>
      </p:sp>
      <p:sp>
        <p:nvSpPr>
          <p:cNvPr id="20" name="Callout 20"/>
          <p:cNvSpPr/>
          <p:nvPr/>
        </p:nvSpPr>
        <p:spPr>
          <a:xfrm>
            <a:off x="812800" y="5050000"/>
            <a:ext cx="10566400" cy="850000"/>
          </a:xfrm>
          <a:prstGeom prst="roundRect">
            <a:avLst>
              <a:gd name="adj" fmla="val 9000"/>
            </a:avLst>
          </a:prstGeom>
          <a:solidFill>
            <a:srgbClr val="FEF3C7"/>
          </a:solidFill>
          <a:ln>
            <a:noFill/>
          </a:ln>
        </p:spPr>
        <p:txBody>
          <a:bodyPr wrap="square" lIns="182880" tIns="182880" rIns="182880" bIns="182880" rtlCol="0" anchor="ctr">
            <a:norm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1F2937"/>
                </a:solidFill>
                <a:highlight>
                  <a:srgbClr val="FFF0A8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SDG 4, Quality Education:</a:t>
            </a:r>
            <a:r>
              <a:rPr lang="en-US" sz="15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students can revise from a short clip or a PDF instead of re-watching hours of video, even with limited internet.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E6F0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906000" y="0"/>
            <a:ext cx="952500" cy="952500"/>
          </a:xfrm>
          <a:prstGeom prst="roundRect">
            <a:avLst>
              <a:gd name="adj" fmla="val 50000"/>
            </a:avLst>
          </a:prstGeom>
          <a:solidFill>
            <a:srgbClr val="CFE3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0795000" y="254000"/>
            <a:ext cx="571500" cy="571500"/>
          </a:xfrm>
          <a:prstGeom prst="roundRect">
            <a:avLst>
              <a:gd name="adj" fmla="val 50000"/>
            </a:avLst>
          </a:prstGeom>
          <a:solidFill>
            <a:srgbClr val="C9ECD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9398000" y="44450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FBD9B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0" y="952500"/>
            <a:ext cx="4064000" cy="50800"/>
          </a:xfrm>
          <a:prstGeom prst="rect">
            <a:avLst/>
          </a:prstGeom>
          <a:solidFill>
            <a:srgbClr val="7DB3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064000" y="952500"/>
            <a:ext cx="4064000" cy="50800"/>
          </a:xfrm>
          <a:prstGeom prst="rect">
            <a:avLst/>
          </a:prstGeom>
          <a:solidFill>
            <a:srgbClr val="7FD1A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8128000" y="952500"/>
            <a:ext cx="4064000" cy="50800"/>
          </a:xfrm>
          <a:prstGeom prst="rect">
            <a:avLst/>
          </a:prstGeom>
          <a:solidFill>
            <a:srgbClr val="F6B4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itle 9"/>
          <p:cNvSpPr>
            <a:spLocks noGrp="1"/>
          </p:cNvSpPr>
          <p:nvPr>
            <p:ph type="title" idx="4294967295"/>
          </p:nvPr>
        </p:nvSpPr>
        <p:spPr>
          <a:xfrm>
            <a:off x="812800" y="292100"/>
            <a:ext cx="850265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2747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Selling Proposition &amp; Key Features</a:t>
            </a:r>
          </a:p>
        </p:txBody>
      </p:sp>
      <p:sp>
        <p:nvSpPr>
          <p:cNvPr id="10" name="Footer 10"/>
          <p:cNvSpPr txBox="1"/>
          <p:nvPr/>
        </p:nvSpPr>
        <p:spPr>
          <a:xfrm>
            <a:off x="812800" y="6238241"/>
            <a:ext cx="45783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0" i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ZapStream · Project Presentation</a:t>
            </a:r>
          </a:p>
        </p:txBody>
      </p:sp>
      <p:sp>
        <p:nvSpPr>
          <p:cNvPr id="11" name="Footer 11"/>
          <p:cNvSpPr txBox="1"/>
          <p:nvPr/>
        </p:nvSpPr>
        <p:spPr>
          <a:xfrm>
            <a:off x="10058400" y="6238241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1200" b="0" i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18</a:t>
            </a:r>
          </a:p>
        </p:txBody>
      </p:sp>
      <p:sp>
        <p:nvSpPr>
          <p:cNvPr id="12" name="Card 10"/>
          <p:cNvSpPr/>
          <p:nvPr/>
        </p:nvSpPr>
        <p:spPr>
          <a:xfrm>
            <a:off x="820440" y="1450000"/>
            <a:ext cx="10560000" cy="40600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endParaRPr lang="en-IN"/>
          </a:p>
        </p:txBody>
      </p:sp>
      <p:graphicFrame>
        <p:nvGraphicFramePr>
          <p:cNvPr id="13" name="Table 11"/>
          <p:cNvGraphicFramePr>
            <a:graphicFrameLocks noGrp="1"/>
          </p:cNvGraphicFramePr>
          <p:nvPr/>
        </p:nvGraphicFramePr>
        <p:xfrm>
          <a:off x="980440" y="1560000"/>
          <a:ext cx="10240000" cy="3840000"/>
        </p:xfrm>
        <a:graphic>
          <a:graphicData uri="http://schemas.openxmlformats.org/drawingml/2006/table">
            <a:tbl>
              <a:tblPr/>
              <a:tblGrid>
                <a:gridCol w="23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4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50" b="1" i="0" dirty="0">
                          <a:solidFill>
                            <a:srgbClr val="2747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</a:t>
                      </a:r>
                      <a:endParaRPr lang="en-US" sz="145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  <a:solidFill>
                      <a:srgbClr val="E3EF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50" b="1" i="0" dirty="0">
                          <a:solidFill>
                            <a:srgbClr val="2747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it works</a:t>
                      </a:r>
                      <a:endParaRPr lang="en-US" sz="145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  <a:solidFill>
                      <a:srgbClr val="E3EF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50" b="1" i="0" dirty="0">
                          <a:solidFill>
                            <a:srgbClr val="2747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Benefit</a:t>
                      </a:r>
                      <a:endParaRPr lang="en-US" sz="145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  <a:solidFill>
                      <a:srgbClr val="E3EF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50" b="1" i="0" dirty="0">
                          <a:solidFill>
                            <a:srgbClr val="2747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Instant video details</a:t>
                      </a:r>
                      <a:endParaRPr lang="en-US" sz="145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yt-dlp reads the link and returns title, channel, duration, views, likes and thumbnail</a:t>
                      </a:r>
                      <a:endParaRPr lang="en-US" sz="145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Know the video before downloading</a:t>
                      </a:r>
                      <a:endParaRPr lang="en-US" sz="145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50" b="1" i="0" dirty="0">
                          <a:solidFill>
                            <a:srgbClr val="2747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video or one part</a:t>
                      </a:r>
                      <a:endParaRPr lang="en-US" sz="145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 and end time go to download_ranges; ffmpeg cuts that range only</a:t>
                      </a:r>
                      <a:endParaRPr lang="en-US" sz="145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Smaller files, faster saves</a:t>
                      </a:r>
                      <a:endParaRPr lang="en-US" sz="145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50" b="1" i="0" dirty="0">
                          <a:solidFill>
                            <a:srgbClr val="2747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Many formats</a:t>
                      </a:r>
                      <a:endParaRPr lang="en-US" sz="145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MP4 in 1080p, 720p, 480p, 360p, or MP3 audio through ffmpeg</a:t>
                      </a:r>
                      <a:endParaRPr lang="en-US" sz="145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Fits any device or data limit</a:t>
                      </a:r>
                      <a:endParaRPr lang="en-US" sz="145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50" b="1" i="0" dirty="0">
                          <a:solidFill>
                            <a:srgbClr val="2747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study PDF</a:t>
                      </a:r>
                      <a:endParaRPr lang="en-US" sz="145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Captions become section-wise notes by Ollama (or Claude API); the browser saves the PDF</a:t>
                      </a:r>
                      <a:endParaRPr lang="en-US" sz="145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 revision material</a:t>
                      </a:r>
                      <a:endParaRPr lang="en-US" sz="145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50" b="1" i="0" dirty="0">
                          <a:solidFill>
                            <a:srgbClr val="2747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Auto-start workflow</a:t>
                      </a:r>
                      <a:endParaRPr lang="en-US" sz="145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VS Code task runs start.py when the folder opens; then click Go Live</a:t>
                      </a:r>
                      <a:endParaRPr lang="en-US" sz="145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repeated commands</a:t>
                      </a:r>
                      <a:endParaRPr lang="en-US" sz="145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E6F0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906000" y="0"/>
            <a:ext cx="952500" cy="952500"/>
          </a:xfrm>
          <a:prstGeom prst="roundRect">
            <a:avLst>
              <a:gd name="adj" fmla="val 50000"/>
            </a:avLst>
          </a:prstGeom>
          <a:solidFill>
            <a:srgbClr val="CFE3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0795000" y="254000"/>
            <a:ext cx="571500" cy="571500"/>
          </a:xfrm>
          <a:prstGeom prst="roundRect">
            <a:avLst>
              <a:gd name="adj" fmla="val 50000"/>
            </a:avLst>
          </a:prstGeom>
          <a:solidFill>
            <a:srgbClr val="C9ECD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9398000" y="44450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FBD9B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0" y="952500"/>
            <a:ext cx="4064000" cy="50800"/>
          </a:xfrm>
          <a:prstGeom prst="rect">
            <a:avLst/>
          </a:prstGeom>
          <a:solidFill>
            <a:srgbClr val="7DB3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064000" y="952500"/>
            <a:ext cx="4064000" cy="50800"/>
          </a:xfrm>
          <a:prstGeom prst="rect">
            <a:avLst/>
          </a:prstGeom>
          <a:solidFill>
            <a:srgbClr val="7FD1A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8128000" y="952500"/>
            <a:ext cx="4064000" cy="50800"/>
          </a:xfrm>
          <a:prstGeom prst="rect">
            <a:avLst/>
          </a:prstGeom>
          <a:solidFill>
            <a:srgbClr val="F6B4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itle 9"/>
          <p:cNvSpPr>
            <a:spLocks noGrp="1"/>
          </p:cNvSpPr>
          <p:nvPr>
            <p:ph type="title" idx="4294967295"/>
          </p:nvPr>
        </p:nvSpPr>
        <p:spPr>
          <a:xfrm>
            <a:off x="812800" y="292100"/>
            <a:ext cx="850265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2747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 / High-Level Design</a:t>
            </a:r>
          </a:p>
        </p:txBody>
      </p:sp>
      <p:sp>
        <p:nvSpPr>
          <p:cNvPr id="10" name="Footer 10"/>
          <p:cNvSpPr txBox="1"/>
          <p:nvPr/>
        </p:nvSpPr>
        <p:spPr>
          <a:xfrm>
            <a:off x="812800" y="6238241"/>
            <a:ext cx="45783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0" i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ZapStream · Project Presentation</a:t>
            </a:r>
          </a:p>
        </p:txBody>
      </p:sp>
      <p:sp>
        <p:nvSpPr>
          <p:cNvPr id="11" name="Footer 11"/>
          <p:cNvSpPr txBox="1"/>
          <p:nvPr/>
        </p:nvSpPr>
        <p:spPr>
          <a:xfrm>
            <a:off x="10058400" y="6238241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1200" b="0" i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18</a:t>
            </a:r>
          </a:p>
        </p:txBody>
      </p:sp>
      <p:sp>
        <p:nvSpPr>
          <p:cNvPr id="35" name="Card 10"/>
          <p:cNvSpPr/>
          <p:nvPr/>
        </p:nvSpPr>
        <p:spPr>
          <a:xfrm>
            <a:off x="812800" y="1500000"/>
            <a:ext cx="1889280" cy="2900000"/>
          </a:xfrm>
          <a:prstGeom prst="roundRect">
            <a:avLst>
              <a:gd name="adj" fmla="val 5000"/>
            </a:avLst>
          </a:prstGeom>
          <a:solidFill>
            <a:srgbClr val="E3EFFD"/>
          </a:solidFill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endParaRPr lang="en-IN"/>
          </a:p>
        </p:txBody>
      </p:sp>
      <p:sp>
        <p:nvSpPr>
          <p:cNvPr id="36" name="Text 11"/>
          <p:cNvSpPr txBox="1"/>
          <p:nvPr/>
        </p:nvSpPr>
        <p:spPr>
          <a:xfrm>
            <a:off x="932800" y="1670000"/>
            <a:ext cx="164928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spcAft>
                <a:spcPts val="0"/>
              </a:spcAft>
              <a:buNone/>
            </a:pPr>
            <a:r>
              <a:rPr lang="en-US" sz="1100" b="1" i="0" dirty="0">
                <a:solidFill>
                  <a:srgbClr val="1D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100" dirty="0"/>
          </a:p>
        </p:txBody>
      </p:sp>
      <p:sp>
        <p:nvSpPr>
          <p:cNvPr id="12" name="Text 12"/>
          <p:cNvSpPr txBox="1"/>
          <p:nvPr/>
        </p:nvSpPr>
        <p:spPr>
          <a:xfrm>
            <a:off x="932800" y="1970000"/>
            <a:ext cx="164928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2747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Request</a:t>
            </a:r>
            <a:endParaRPr lang="en-US" sz="1400" dirty="0"/>
          </a:p>
        </p:txBody>
      </p:sp>
      <p:sp>
        <p:nvSpPr>
          <p:cNvPr id="13" name="Text 13"/>
          <p:cNvSpPr txBox="1"/>
          <p:nvPr/>
        </p:nvSpPr>
        <p:spPr>
          <a:xfrm>
            <a:off x="932800" y="2600000"/>
            <a:ext cx="1649280" cy="1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spcAft>
                <a:spcPts val="0"/>
              </a:spcAft>
              <a:buNone/>
            </a:pPr>
            <a:r>
              <a:rPr lang="en-US" sz="135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Link, format and optional start and end time typed in index.html</a:t>
            </a:r>
            <a:endParaRPr lang="en-US" sz="1350" dirty="0"/>
          </a:p>
        </p:txBody>
      </p:sp>
      <p:sp>
        <p:nvSpPr>
          <p:cNvPr id="14" name="Text 14"/>
          <p:cNvSpPr txBox="1"/>
          <p:nvPr/>
        </p:nvSpPr>
        <p:spPr>
          <a:xfrm>
            <a:off x="2702080" y="2750000"/>
            <a:ext cx="28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8000"/>
              </a:lnSpc>
              <a:spcAft>
                <a:spcPts val="0"/>
              </a:spcAft>
              <a:buNone/>
            </a:pPr>
            <a:r>
              <a:rPr lang="en-US" sz="2200" b="1" i="0" dirty="0">
                <a:solidFill>
                  <a:srgbClr val="1D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Card 15"/>
          <p:cNvSpPr/>
          <p:nvPr/>
        </p:nvSpPr>
        <p:spPr>
          <a:xfrm>
            <a:off x="2982080" y="1500000"/>
            <a:ext cx="1889280" cy="2900000"/>
          </a:xfrm>
          <a:prstGeom prst="roundRect">
            <a:avLst>
              <a:gd name="adj" fmla="val 5000"/>
            </a:avLst>
          </a:prstGeom>
          <a:solidFill>
            <a:srgbClr val="DEF4EA"/>
          </a:solidFill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endParaRPr lang="en-IN"/>
          </a:p>
        </p:txBody>
      </p:sp>
      <p:sp>
        <p:nvSpPr>
          <p:cNvPr id="16" name="Text 16"/>
          <p:cNvSpPr txBox="1"/>
          <p:nvPr/>
        </p:nvSpPr>
        <p:spPr>
          <a:xfrm>
            <a:off x="3102080" y="1670000"/>
            <a:ext cx="164928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spcAft>
                <a:spcPts val="0"/>
              </a:spcAft>
              <a:buNone/>
            </a:pPr>
            <a:r>
              <a:rPr lang="en-US" sz="1100" b="1" i="0" dirty="0">
                <a:solidFill>
                  <a:srgbClr val="1D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1100" dirty="0"/>
          </a:p>
        </p:txBody>
      </p:sp>
      <p:sp>
        <p:nvSpPr>
          <p:cNvPr id="17" name="Text 17"/>
          <p:cNvSpPr txBox="1"/>
          <p:nvPr/>
        </p:nvSpPr>
        <p:spPr>
          <a:xfrm>
            <a:off x="3102080" y="1970000"/>
            <a:ext cx="164928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2747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Backend</a:t>
            </a:r>
            <a:endParaRPr lang="en-US" sz="1400" dirty="0"/>
          </a:p>
        </p:txBody>
      </p:sp>
      <p:sp>
        <p:nvSpPr>
          <p:cNvPr id="18" name="Text 18"/>
          <p:cNvSpPr txBox="1"/>
          <p:nvPr/>
        </p:nvSpPr>
        <p:spPr>
          <a:xfrm>
            <a:off x="3102080" y="2600000"/>
            <a:ext cx="1649280" cy="1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spcAft>
                <a:spcPts val="0"/>
              </a:spcAft>
              <a:buNone/>
            </a:pPr>
            <a:r>
              <a:rPr lang="en-US" sz="135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backend.py receives the request and starts a background job</a:t>
            </a:r>
            <a:endParaRPr lang="en-US" sz="1350" dirty="0"/>
          </a:p>
        </p:txBody>
      </p:sp>
      <p:sp>
        <p:nvSpPr>
          <p:cNvPr id="19" name="Text 19"/>
          <p:cNvSpPr txBox="1"/>
          <p:nvPr/>
        </p:nvSpPr>
        <p:spPr>
          <a:xfrm>
            <a:off x="4871360" y="2750000"/>
            <a:ext cx="28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8000"/>
              </a:lnSpc>
              <a:spcAft>
                <a:spcPts val="0"/>
              </a:spcAft>
              <a:buNone/>
            </a:pPr>
            <a:r>
              <a:rPr lang="en-US" sz="2200" b="1" i="0" dirty="0">
                <a:solidFill>
                  <a:srgbClr val="1D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Card 20"/>
          <p:cNvSpPr/>
          <p:nvPr/>
        </p:nvSpPr>
        <p:spPr>
          <a:xfrm>
            <a:off x="5151360" y="1500000"/>
            <a:ext cx="1889280" cy="2900000"/>
          </a:xfrm>
          <a:prstGeom prst="roundRect">
            <a:avLst>
              <a:gd name="adj" fmla="val 5000"/>
            </a:avLst>
          </a:prstGeom>
          <a:solidFill>
            <a:srgbClr val="EAE4FB"/>
          </a:solidFill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endParaRPr lang="en-IN"/>
          </a:p>
        </p:txBody>
      </p:sp>
      <p:sp>
        <p:nvSpPr>
          <p:cNvPr id="21" name="Text 21"/>
          <p:cNvSpPr txBox="1"/>
          <p:nvPr/>
        </p:nvSpPr>
        <p:spPr>
          <a:xfrm>
            <a:off x="5271360" y="1670000"/>
            <a:ext cx="164928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spcAft>
                <a:spcPts val="0"/>
              </a:spcAft>
              <a:buNone/>
            </a:pPr>
            <a:r>
              <a:rPr lang="en-US" sz="1100" b="1" i="0" dirty="0">
                <a:solidFill>
                  <a:srgbClr val="1D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1100" dirty="0"/>
          </a:p>
        </p:txBody>
      </p:sp>
      <p:sp>
        <p:nvSpPr>
          <p:cNvPr id="22" name="Text 22"/>
          <p:cNvSpPr txBox="1"/>
          <p:nvPr/>
        </p:nvSpPr>
        <p:spPr>
          <a:xfrm>
            <a:off x="5271360" y="1970000"/>
            <a:ext cx="164928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2747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yt-dlp + ffmpeg</a:t>
            </a:r>
            <a:endParaRPr lang="en-US" sz="1400" dirty="0"/>
          </a:p>
        </p:txBody>
      </p:sp>
      <p:sp>
        <p:nvSpPr>
          <p:cNvPr id="23" name="Text 23"/>
          <p:cNvSpPr txBox="1"/>
          <p:nvPr/>
        </p:nvSpPr>
        <p:spPr>
          <a:xfrm>
            <a:off x="5271360" y="2600000"/>
            <a:ext cx="1649280" cy="1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spcAft>
                <a:spcPts val="0"/>
              </a:spcAft>
              <a:buNone/>
            </a:pPr>
            <a:r>
              <a:rPr lang="en-US" sz="135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video info, downloads, cuts the range, converts to MP3 or MP4</a:t>
            </a:r>
            <a:endParaRPr lang="en-US" sz="1350" dirty="0"/>
          </a:p>
        </p:txBody>
      </p:sp>
      <p:sp>
        <p:nvSpPr>
          <p:cNvPr id="24" name="Text 24"/>
          <p:cNvSpPr txBox="1"/>
          <p:nvPr/>
        </p:nvSpPr>
        <p:spPr>
          <a:xfrm>
            <a:off x="7040640" y="2750000"/>
            <a:ext cx="28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8000"/>
              </a:lnSpc>
              <a:spcAft>
                <a:spcPts val="0"/>
              </a:spcAft>
              <a:buNone/>
            </a:pPr>
            <a:r>
              <a:rPr lang="en-US" sz="2200" b="1" i="0" dirty="0">
                <a:solidFill>
                  <a:srgbClr val="1D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5" name="Card 25"/>
          <p:cNvSpPr/>
          <p:nvPr/>
        </p:nvSpPr>
        <p:spPr>
          <a:xfrm>
            <a:off x="7320640" y="1500000"/>
            <a:ext cx="1889280" cy="2900000"/>
          </a:xfrm>
          <a:prstGeom prst="roundRect">
            <a:avLst>
              <a:gd name="adj" fmla="val 5000"/>
            </a:avLst>
          </a:prstGeom>
          <a:solidFill>
            <a:srgbClr val="FDEBDC"/>
          </a:solidFill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endParaRPr lang="en-IN"/>
          </a:p>
        </p:txBody>
      </p:sp>
      <p:sp>
        <p:nvSpPr>
          <p:cNvPr id="26" name="Text 26"/>
          <p:cNvSpPr txBox="1"/>
          <p:nvPr/>
        </p:nvSpPr>
        <p:spPr>
          <a:xfrm>
            <a:off x="7440640" y="1670000"/>
            <a:ext cx="164928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spcAft>
                <a:spcPts val="0"/>
              </a:spcAft>
              <a:buNone/>
            </a:pPr>
            <a:r>
              <a:rPr lang="en-US" sz="1100" b="1" i="0" dirty="0">
                <a:solidFill>
                  <a:srgbClr val="1D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endParaRPr lang="en-US" sz="1100" dirty="0"/>
          </a:p>
        </p:txBody>
      </p:sp>
      <p:sp>
        <p:nvSpPr>
          <p:cNvPr id="27" name="Text 27"/>
          <p:cNvSpPr txBox="1"/>
          <p:nvPr/>
        </p:nvSpPr>
        <p:spPr>
          <a:xfrm>
            <a:off x="7440640" y="1970000"/>
            <a:ext cx="164928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2747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Notes Engine</a:t>
            </a:r>
            <a:endParaRPr lang="en-US" sz="1400" dirty="0"/>
          </a:p>
        </p:txBody>
      </p:sp>
      <p:sp>
        <p:nvSpPr>
          <p:cNvPr id="28" name="Text 28"/>
          <p:cNvSpPr txBox="1"/>
          <p:nvPr/>
        </p:nvSpPr>
        <p:spPr>
          <a:xfrm>
            <a:off x="7440640" y="2600000"/>
            <a:ext cx="1649280" cy="1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spcAft>
                <a:spcPts val="0"/>
              </a:spcAft>
              <a:buNone/>
            </a:pPr>
            <a:r>
              <a:rPr lang="en-US" sz="135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Captions are split into parts; Ollama writes notes, glossary and quiz</a:t>
            </a:r>
            <a:endParaRPr lang="en-US" sz="1350" dirty="0"/>
          </a:p>
        </p:txBody>
      </p:sp>
      <p:sp>
        <p:nvSpPr>
          <p:cNvPr id="29" name="Text 29"/>
          <p:cNvSpPr txBox="1"/>
          <p:nvPr/>
        </p:nvSpPr>
        <p:spPr>
          <a:xfrm>
            <a:off x="9209920" y="2750000"/>
            <a:ext cx="28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8000"/>
              </a:lnSpc>
              <a:spcAft>
                <a:spcPts val="0"/>
              </a:spcAft>
              <a:buNone/>
            </a:pPr>
            <a:r>
              <a:rPr lang="en-US" sz="2200" b="1" i="0" dirty="0">
                <a:solidFill>
                  <a:srgbClr val="1D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30" name="Card 30"/>
          <p:cNvSpPr/>
          <p:nvPr/>
        </p:nvSpPr>
        <p:spPr>
          <a:xfrm>
            <a:off x="9489920" y="1500000"/>
            <a:ext cx="1889280" cy="2900000"/>
          </a:xfrm>
          <a:prstGeom prst="roundRect">
            <a:avLst>
              <a:gd name="adj" fmla="val 5000"/>
            </a:avLst>
          </a:prstGeom>
          <a:solidFill>
            <a:srgbClr val="E3EFFD"/>
          </a:solidFill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endParaRPr lang="en-IN"/>
          </a:p>
        </p:txBody>
      </p:sp>
      <p:sp>
        <p:nvSpPr>
          <p:cNvPr id="31" name="Text 31"/>
          <p:cNvSpPr txBox="1"/>
          <p:nvPr/>
        </p:nvSpPr>
        <p:spPr>
          <a:xfrm>
            <a:off x="9609920" y="1670000"/>
            <a:ext cx="164928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spcAft>
                <a:spcPts val="0"/>
              </a:spcAft>
              <a:buNone/>
            </a:pPr>
            <a:r>
              <a:rPr lang="en-US" sz="1100" b="1" i="0" dirty="0">
                <a:solidFill>
                  <a:srgbClr val="1D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</a:t>
            </a:r>
            <a:endParaRPr lang="en-US" sz="1100" dirty="0"/>
          </a:p>
        </p:txBody>
      </p:sp>
      <p:sp>
        <p:nvSpPr>
          <p:cNvPr id="32" name="Text 32"/>
          <p:cNvSpPr txBox="1"/>
          <p:nvPr/>
        </p:nvSpPr>
        <p:spPr>
          <a:xfrm>
            <a:off x="9609920" y="1970000"/>
            <a:ext cx="164928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2747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400" dirty="0"/>
          </a:p>
        </p:txBody>
      </p:sp>
      <p:sp>
        <p:nvSpPr>
          <p:cNvPr id="33" name="Text 33"/>
          <p:cNvSpPr txBox="1"/>
          <p:nvPr/>
        </p:nvSpPr>
        <p:spPr>
          <a:xfrm>
            <a:off x="9609920" y="2600000"/>
            <a:ext cx="1649280" cy="1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spcAft>
                <a:spcPts val="0"/>
              </a:spcAft>
              <a:buNone/>
            </a:pPr>
            <a:r>
              <a:rPr lang="en-US" sz="135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file or study PDF (html2pdf.js) downloads in the browser</a:t>
            </a:r>
            <a:endParaRPr lang="en-US" sz="1350" dirty="0"/>
          </a:p>
        </p:txBody>
      </p:sp>
      <p:sp>
        <p:nvSpPr>
          <p:cNvPr id="34" name="Callout 34"/>
          <p:cNvSpPr/>
          <p:nvPr/>
        </p:nvSpPr>
        <p:spPr>
          <a:xfrm>
            <a:off x="812800" y="4700000"/>
            <a:ext cx="10566400" cy="1100000"/>
          </a:xfrm>
          <a:prstGeom prst="roundRect">
            <a:avLst>
              <a:gd name="adj" fmla="val 9000"/>
            </a:avLst>
          </a:prstGeom>
          <a:solidFill>
            <a:srgbClr val="FEF3C7"/>
          </a:solidFill>
          <a:ln>
            <a:noFill/>
          </a:ln>
        </p:spPr>
        <p:txBody>
          <a:bodyPr wrap="square" lIns="182880" tIns="182880" rIns="182880" bIns="182880" rtlCol="0" anchor="ctr">
            <a:norm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1F2937"/>
                </a:solidFill>
                <a:highlight>
                  <a:srgbClr val="FFF0A8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Live progress:</a:t>
            </a:r>
            <a:r>
              <a:rPr lang="en-US" sz="14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browser asks </a:t>
            </a:r>
            <a:r>
              <a:rPr lang="en-US" sz="1330" b="1" i="0" dirty="0">
                <a:solidFill>
                  <a:srgbClr val="2747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/api/job/{id}</a:t>
            </a:r>
            <a:r>
              <a:rPr lang="en-US" sz="14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every second and shows a progress bar. After the file is sent, the temporary folder is deleted automatically.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E6F0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906000" y="0"/>
            <a:ext cx="952500" cy="952500"/>
          </a:xfrm>
          <a:prstGeom prst="roundRect">
            <a:avLst>
              <a:gd name="adj" fmla="val 50000"/>
            </a:avLst>
          </a:prstGeom>
          <a:solidFill>
            <a:srgbClr val="CFE3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0795000" y="254000"/>
            <a:ext cx="571500" cy="571500"/>
          </a:xfrm>
          <a:prstGeom prst="roundRect">
            <a:avLst>
              <a:gd name="adj" fmla="val 50000"/>
            </a:avLst>
          </a:prstGeom>
          <a:solidFill>
            <a:srgbClr val="C9ECD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9398000" y="44450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FBD9B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0" y="952500"/>
            <a:ext cx="4064000" cy="50800"/>
          </a:xfrm>
          <a:prstGeom prst="rect">
            <a:avLst/>
          </a:prstGeom>
          <a:solidFill>
            <a:srgbClr val="7DB3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064000" y="952500"/>
            <a:ext cx="4064000" cy="50800"/>
          </a:xfrm>
          <a:prstGeom prst="rect">
            <a:avLst/>
          </a:prstGeom>
          <a:solidFill>
            <a:srgbClr val="7FD1A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8128000" y="952500"/>
            <a:ext cx="4064000" cy="50800"/>
          </a:xfrm>
          <a:prstGeom prst="rect">
            <a:avLst/>
          </a:prstGeom>
          <a:solidFill>
            <a:srgbClr val="F6B4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itle 9"/>
          <p:cNvSpPr>
            <a:spLocks noGrp="1"/>
          </p:cNvSpPr>
          <p:nvPr>
            <p:ph type="title" idx="4294967295"/>
          </p:nvPr>
        </p:nvSpPr>
        <p:spPr>
          <a:xfrm>
            <a:off x="812800" y="292100"/>
            <a:ext cx="850265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2747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 &amp; Tools Used</a:t>
            </a:r>
          </a:p>
        </p:txBody>
      </p:sp>
      <p:sp>
        <p:nvSpPr>
          <p:cNvPr id="10" name="Footer 10"/>
          <p:cNvSpPr txBox="1"/>
          <p:nvPr/>
        </p:nvSpPr>
        <p:spPr>
          <a:xfrm>
            <a:off x="812800" y="6238241"/>
            <a:ext cx="45783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0" i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ZapStream · Project Presentation</a:t>
            </a:r>
          </a:p>
        </p:txBody>
      </p:sp>
      <p:sp>
        <p:nvSpPr>
          <p:cNvPr id="11" name="Footer 11"/>
          <p:cNvSpPr txBox="1"/>
          <p:nvPr/>
        </p:nvSpPr>
        <p:spPr>
          <a:xfrm>
            <a:off x="10058400" y="6238241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1200" b="0" i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18</a:t>
            </a:r>
          </a:p>
        </p:txBody>
      </p:sp>
      <p:sp>
        <p:nvSpPr>
          <p:cNvPr id="12" name="Card 10"/>
          <p:cNvSpPr/>
          <p:nvPr/>
        </p:nvSpPr>
        <p:spPr>
          <a:xfrm>
            <a:off x="820440" y="1450000"/>
            <a:ext cx="10560000" cy="42735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endParaRPr lang="en-IN"/>
          </a:p>
        </p:txBody>
      </p:sp>
      <p:graphicFrame>
        <p:nvGraphicFramePr>
          <p:cNvPr id="13" name="Table 11"/>
          <p:cNvGraphicFramePr>
            <a:graphicFrameLocks noGrp="1"/>
          </p:cNvGraphicFramePr>
          <p:nvPr/>
        </p:nvGraphicFramePr>
        <p:xfrm>
          <a:off x="980440" y="1560000"/>
          <a:ext cx="10240000" cy="4053560"/>
        </p:xfrm>
        <a:graphic>
          <a:graphicData uri="http://schemas.openxmlformats.org/drawingml/2006/table">
            <a:tbl>
              <a:tblPr/>
              <a:tblGrid>
                <a:gridCol w="1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4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00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dirty="0">
                          <a:solidFill>
                            <a:srgbClr val="2747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Layer</a:t>
                      </a:r>
                      <a:endParaRPr lang="en-US" sz="150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  <a:solidFill>
                      <a:srgbClr val="E3EF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dirty="0">
                          <a:solidFill>
                            <a:srgbClr val="2747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Technology</a:t>
                      </a:r>
                      <a:endParaRPr lang="en-US" sz="150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  <a:solidFill>
                      <a:srgbClr val="E3EF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dirty="0">
                          <a:solidFill>
                            <a:srgbClr val="2747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Role in the project</a:t>
                      </a:r>
                      <a:endParaRPr lang="en-US" sz="150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  <a:solidFill>
                      <a:srgbClr val="E3EF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452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dirty="0">
                          <a:solidFill>
                            <a:srgbClr val="2747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Frontend</a:t>
                      </a:r>
                      <a:endParaRPr lang="en-US" sz="150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HTML5, CSS3, JavaScript, html2pdf.js</a:t>
                      </a:r>
                      <a:endParaRPr lang="en-US" sz="150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Input form, progress bar, notes preview, PDF export</a:t>
                      </a:r>
                      <a:endParaRPr lang="en-US" sz="150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dirty="0">
                          <a:solidFill>
                            <a:srgbClr val="2747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Backend</a:t>
                      </a:r>
                      <a:endParaRPr lang="en-US" sz="150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Python, FastAPI, Uvicorn</a:t>
                      </a:r>
                      <a:endParaRPr lang="en-US" sz="150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REST API and background job handling</a:t>
                      </a:r>
                      <a:endParaRPr lang="en-US" sz="150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452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dirty="0">
                          <a:solidFill>
                            <a:srgbClr val="2747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Media</a:t>
                      </a:r>
                      <a:endParaRPr lang="en-US" sz="150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yt-dlp, ffmpeg</a:t>
                      </a:r>
                      <a:endParaRPr lang="en-US" sz="150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 video info, download, cut ranges, convert to MP3</a:t>
                      </a:r>
                      <a:endParaRPr lang="en-US" sz="150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dirty="0">
                          <a:solidFill>
                            <a:srgbClr val="2747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</a:t>
                      </a:r>
                      <a:endParaRPr lang="en-US" sz="150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Ollama (llama3.2), optional Claude API</a:t>
                      </a:r>
                      <a:endParaRPr lang="en-US" sz="150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Writes notes, glossary and quiz</a:t>
                      </a:r>
                      <a:endParaRPr lang="en-US" sz="150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452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dirty="0">
                          <a:solidFill>
                            <a:srgbClr val="2747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Transcript</a:t>
                      </a:r>
                      <a:endParaRPr lang="en-US" sz="150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YouTube captions (VTT), optional faster-whisper</a:t>
                      </a:r>
                      <a:endParaRPr lang="en-US" sz="150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Source text for the study notes</a:t>
                      </a:r>
                      <a:endParaRPr lang="en-US" sz="150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dirty="0">
                          <a:solidFill>
                            <a:srgbClr val="2747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 tools</a:t>
                      </a:r>
                      <a:endParaRPr lang="en-US" sz="150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VS Code, Live Server, tasks.json</a:t>
                      </a:r>
                      <a:endParaRPr lang="en-US" sz="150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One-click start workflow</a:t>
                      </a:r>
                      <a:endParaRPr lang="en-US" sz="150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E6F0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906000" y="0"/>
            <a:ext cx="952500" cy="952500"/>
          </a:xfrm>
          <a:prstGeom prst="roundRect">
            <a:avLst>
              <a:gd name="adj" fmla="val 50000"/>
            </a:avLst>
          </a:prstGeom>
          <a:solidFill>
            <a:srgbClr val="CFE3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0795000" y="254000"/>
            <a:ext cx="571500" cy="571500"/>
          </a:xfrm>
          <a:prstGeom prst="roundRect">
            <a:avLst>
              <a:gd name="adj" fmla="val 50000"/>
            </a:avLst>
          </a:prstGeom>
          <a:solidFill>
            <a:srgbClr val="C9ECD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9398000" y="44450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FBD9B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0" y="952500"/>
            <a:ext cx="4064000" cy="50800"/>
          </a:xfrm>
          <a:prstGeom prst="rect">
            <a:avLst/>
          </a:prstGeom>
          <a:solidFill>
            <a:srgbClr val="7DB3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064000" y="952500"/>
            <a:ext cx="4064000" cy="50800"/>
          </a:xfrm>
          <a:prstGeom prst="rect">
            <a:avLst/>
          </a:prstGeom>
          <a:solidFill>
            <a:srgbClr val="7FD1A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8128000" y="952500"/>
            <a:ext cx="4064000" cy="50800"/>
          </a:xfrm>
          <a:prstGeom prst="rect">
            <a:avLst/>
          </a:prstGeom>
          <a:solidFill>
            <a:srgbClr val="F6B4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itle 9"/>
          <p:cNvSpPr>
            <a:spLocks noGrp="1"/>
          </p:cNvSpPr>
          <p:nvPr>
            <p:ph type="title" idx="4294967295"/>
          </p:nvPr>
        </p:nvSpPr>
        <p:spPr>
          <a:xfrm>
            <a:off x="812800" y="292100"/>
            <a:ext cx="850265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2747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Structure &amp; Startup Flow</a:t>
            </a:r>
          </a:p>
        </p:txBody>
      </p:sp>
      <p:sp>
        <p:nvSpPr>
          <p:cNvPr id="10" name="Footer 10"/>
          <p:cNvSpPr txBox="1"/>
          <p:nvPr/>
        </p:nvSpPr>
        <p:spPr>
          <a:xfrm>
            <a:off x="812800" y="6238241"/>
            <a:ext cx="45783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0" i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ZapStream · Project Presentation</a:t>
            </a:r>
          </a:p>
        </p:txBody>
      </p:sp>
      <p:sp>
        <p:nvSpPr>
          <p:cNvPr id="11" name="Footer 11"/>
          <p:cNvSpPr txBox="1"/>
          <p:nvPr/>
        </p:nvSpPr>
        <p:spPr>
          <a:xfrm>
            <a:off x="10058400" y="6238241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1200" b="0" i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18</a:t>
            </a:r>
          </a:p>
        </p:txBody>
      </p:sp>
      <p:sp>
        <p:nvSpPr>
          <p:cNvPr id="16" name="Card 10"/>
          <p:cNvSpPr/>
          <p:nvPr/>
        </p:nvSpPr>
        <p:spPr>
          <a:xfrm>
            <a:off x="812800" y="1397000"/>
            <a:ext cx="5400000" cy="4450000"/>
          </a:xfrm>
          <a:prstGeom prst="roundRect">
            <a:avLst>
              <a:gd name="adj" fmla="val 2857"/>
            </a:avLst>
          </a:prstGeom>
          <a:solidFill>
            <a:srgbClr val="E3EFFD"/>
          </a:solidFill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endParaRPr lang="en-IN"/>
          </a:p>
        </p:txBody>
      </p:sp>
      <p:sp>
        <p:nvSpPr>
          <p:cNvPr id="17" name="Text 11"/>
          <p:cNvSpPr txBox="1"/>
          <p:nvPr/>
        </p:nvSpPr>
        <p:spPr>
          <a:xfrm>
            <a:off x="1041400" y="1600000"/>
            <a:ext cx="49428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spcAft>
                <a:spcPts val="0"/>
              </a:spcAft>
              <a:buNone/>
            </a:pPr>
            <a:r>
              <a:rPr lang="en-US" sz="1700" b="1" i="0" dirty="0">
                <a:solidFill>
                  <a:srgbClr val="2747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folder</a:t>
            </a:r>
            <a:endParaRPr lang="en-US" sz="1700" dirty="0"/>
          </a:p>
        </p:txBody>
      </p:sp>
      <p:sp>
        <p:nvSpPr>
          <p:cNvPr id="12" name="Code 12"/>
          <p:cNvSpPr/>
          <p:nvPr/>
        </p:nvSpPr>
        <p:spPr>
          <a:xfrm>
            <a:off x="1041400" y="2050000"/>
            <a:ext cx="4942800" cy="35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7DB3F0"/>
            </a:solidFill>
          </a:ln>
        </p:spPr>
        <p:txBody>
          <a:bodyPr wrap="square" lIns="137160" tIns="137160" rIns="137160" bIns="137160" rtlCol="0" anchor="ctr">
            <a:normAutofit/>
          </a:bodyPr>
          <a:lstStyle/>
          <a:p>
            <a:pPr marL="0" indent="0" algn="l">
              <a:lnSpc>
                <a:spcPct val="125000"/>
              </a:lnSpc>
              <a:spcAft>
                <a:spcPts val="0"/>
              </a:spcAft>
              <a:buNone/>
            </a:pPr>
            <a:r>
              <a:rPr lang="en-US" sz="1350" b="0" i="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MINOR PROJECT/</a:t>
            </a:r>
            <a:endParaRPr lang="en-US" sz="1350" dirty="0"/>
          </a:p>
          <a:p>
            <a:pPr marL="0" indent="0" algn="l">
              <a:lnSpc>
                <a:spcPct val="125000"/>
              </a:lnSpc>
              <a:spcAft>
                <a:spcPts val="0"/>
              </a:spcAft>
              <a:buNone/>
            </a:pPr>
            <a:r>
              <a:rPr lang="en-US" sz="1350" b="0" i="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|-- .vscode/</a:t>
            </a:r>
            <a:endParaRPr lang="en-US" sz="1350" dirty="0"/>
          </a:p>
          <a:p>
            <a:pPr marL="0" indent="0" algn="l">
              <a:lnSpc>
                <a:spcPct val="125000"/>
              </a:lnSpc>
              <a:spcAft>
                <a:spcPts val="0"/>
              </a:spcAft>
              <a:buNone/>
            </a:pPr>
            <a:r>
              <a:rPr lang="en-US" sz="1350" b="0" i="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|-- tasks.json     auto-start</a:t>
            </a:r>
            <a:endParaRPr lang="en-US" sz="1350" dirty="0"/>
          </a:p>
          <a:p>
            <a:pPr marL="0" indent="0" algn="l">
              <a:lnSpc>
                <a:spcPct val="125000"/>
              </a:lnSpc>
              <a:spcAft>
                <a:spcPts val="0"/>
              </a:spcAft>
              <a:buNone/>
            </a:pPr>
            <a:r>
              <a:rPr lang="en-US" sz="1350" b="0" i="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\-- settings.json  Live Server</a:t>
            </a:r>
            <a:endParaRPr lang="en-US" sz="1350" dirty="0"/>
          </a:p>
          <a:p>
            <a:pPr marL="0" indent="0" algn="l">
              <a:lnSpc>
                <a:spcPct val="125000"/>
              </a:lnSpc>
              <a:spcAft>
                <a:spcPts val="0"/>
              </a:spcAft>
              <a:buNone/>
            </a:pPr>
            <a:r>
              <a:rPr lang="en-US" sz="1350" b="0" i="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|-- backend.py       API + AI notes</a:t>
            </a:r>
            <a:endParaRPr lang="en-US" sz="1350" dirty="0"/>
          </a:p>
          <a:p>
            <a:pPr marL="0" indent="0" algn="l">
              <a:lnSpc>
                <a:spcPct val="125000"/>
              </a:lnSpc>
              <a:spcAft>
                <a:spcPts val="0"/>
              </a:spcAft>
              <a:buNone/>
            </a:pPr>
            <a:r>
              <a:rPr lang="en-US" sz="1350" b="0" i="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|-- index.html       user interface</a:t>
            </a:r>
            <a:endParaRPr lang="en-US" sz="1350" dirty="0"/>
          </a:p>
          <a:p>
            <a:pPr marL="0" indent="0" algn="l">
              <a:lnSpc>
                <a:spcPct val="125000"/>
              </a:lnSpc>
              <a:spcAft>
                <a:spcPts val="0"/>
              </a:spcAft>
              <a:buNone/>
            </a:pPr>
            <a:r>
              <a:rPr lang="en-US" sz="1350" b="0" i="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|-- start.py         launcher</a:t>
            </a:r>
            <a:endParaRPr lang="en-US" sz="1350" dirty="0"/>
          </a:p>
          <a:p>
            <a:pPr marL="0" indent="0" algn="l">
              <a:lnSpc>
                <a:spcPct val="125000"/>
              </a:lnSpc>
              <a:spcAft>
                <a:spcPts val="0"/>
              </a:spcAft>
              <a:buNone/>
            </a:pPr>
            <a:r>
              <a:rPr lang="en-US" sz="1350" b="0" i="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|-- start.bat        manual backup</a:t>
            </a:r>
            <a:endParaRPr lang="en-US" sz="1350" dirty="0"/>
          </a:p>
          <a:p>
            <a:pPr marL="0" indent="0" algn="l">
              <a:lnSpc>
                <a:spcPct val="125000"/>
              </a:lnSpc>
              <a:spcAft>
                <a:spcPts val="0"/>
              </a:spcAft>
              <a:buNone/>
            </a:pPr>
            <a:r>
              <a:rPr lang="en-US" sz="1350" b="0" i="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\-- .env             model / key</a:t>
            </a:r>
            <a:endParaRPr lang="en-US" sz="1350" dirty="0"/>
          </a:p>
        </p:txBody>
      </p:sp>
      <p:sp>
        <p:nvSpPr>
          <p:cNvPr id="13" name="Card 13"/>
          <p:cNvSpPr/>
          <p:nvPr/>
        </p:nvSpPr>
        <p:spPr>
          <a:xfrm>
            <a:off x="6350000" y="1397000"/>
            <a:ext cx="5029200" cy="4450000"/>
          </a:xfrm>
          <a:prstGeom prst="roundRect">
            <a:avLst>
              <a:gd name="adj" fmla="val 2857"/>
            </a:avLst>
          </a:prstGeom>
          <a:solidFill>
            <a:srgbClr val="DEF4EA"/>
          </a:solidFill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endParaRPr lang="en-IN"/>
          </a:p>
        </p:txBody>
      </p:sp>
      <p:sp>
        <p:nvSpPr>
          <p:cNvPr id="14" name="Text 14"/>
          <p:cNvSpPr txBox="1"/>
          <p:nvPr/>
        </p:nvSpPr>
        <p:spPr>
          <a:xfrm>
            <a:off x="6578600" y="1600000"/>
            <a:ext cx="4572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spcAft>
                <a:spcPts val="0"/>
              </a:spcAft>
              <a:buNone/>
            </a:pPr>
            <a:r>
              <a:rPr lang="en-US" sz="1700" b="1" i="0" dirty="0">
                <a:solidFill>
                  <a:srgbClr val="2747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starts without commands</a:t>
            </a:r>
            <a:endParaRPr lang="en-US" sz="1700" dirty="0"/>
          </a:p>
        </p:txBody>
      </p:sp>
      <p:sp>
        <p:nvSpPr>
          <p:cNvPr id="15" name="Text 15"/>
          <p:cNvSpPr txBox="1"/>
          <p:nvPr/>
        </p:nvSpPr>
        <p:spPr>
          <a:xfrm>
            <a:off x="6578600" y="2100000"/>
            <a:ext cx="4572000" cy="3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285750" indent="-285750" algn="l">
              <a:lnSpc>
                <a:spcPct val="108000"/>
              </a:lnSpc>
              <a:spcAft>
                <a:spcPts val="800"/>
              </a:spcAft>
              <a:buClr>
                <a:srgbClr val="1D5FA8"/>
              </a:buClr>
              <a:buFont typeface="Arial"/>
              <a:buAutoNum type="arabicPeriod"/>
            </a:pPr>
            <a:r>
              <a:rPr lang="en-US" sz="15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folder in </a:t>
            </a:r>
            <a:r>
              <a:rPr lang="en-US" sz="1500" b="1" i="0" dirty="0">
                <a:solidFill>
                  <a:srgbClr val="1D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Code</a:t>
            </a:r>
            <a:r>
              <a:rPr lang="en-US" sz="15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500" dirty="0"/>
          </a:p>
          <a:p>
            <a:pPr marL="285750" indent="-285750" algn="l">
              <a:lnSpc>
                <a:spcPct val="108000"/>
              </a:lnSpc>
              <a:spcAft>
                <a:spcPts val="800"/>
              </a:spcAft>
              <a:buClr>
                <a:srgbClr val="1D5FA8"/>
              </a:buClr>
              <a:buFont typeface="Arial"/>
              <a:buAutoNum type="arabicPeriod"/>
            </a:pPr>
            <a:r>
              <a:rPr lang="en-US" sz="1425" b="1" i="0" dirty="0">
                <a:solidFill>
                  <a:srgbClr val="2747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tasks.json</a:t>
            </a:r>
            <a:r>
              <a:rPr lang="en-US" sz="15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runs </a:t>
            </a:r>
            <a:r>
              <a:rPr lang="en-US" sz="1425" b="1" i="0" dirty="0">
                <a:solidFill>
                  <a:srgbClr val="2747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start.py</a:t>
            </a:r>
            <a:r>
              <a:rPr lang="en-US" sz="15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 </a:t>
            </a:r>
            <a:r>
              <a:rPr lang="en-US" sz="1500" b="1" i="0" dirty="0">
                <a:solidFill>
                  <a:srgbClr val="1D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folderOpen</a:t>
            </a:r>
            <a:r>
              <a:rPr lang="en-US" sz="15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500" dirty="0"/>
          </a:p>
          <a:p>
            <a:pPr marL="285750" indent="-285750" algn="l">
              <a:lnSpc>
                <a:spcPct val="108000"/>
              </a:lnSpc>
              <a:spcAft>
                <a:spcPts val="800"/>
              </a:spcAft>
              <a:buClr>
                <a:srgbClr val="1D5FA8"/>
              </a:buClr>
              <a:buFont typeface="Arial"/>
              <a:buAutoNum type="arabicPeriod"/>
            </a:pPr>
            <a:r>
              <a:rPr lang="en-US" sz="1425" b="1" i="0" dirty="0">
                <a:solidFill>
                  <a:srgbClr val="2747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start.py</a:t>
            </a:r>
            <a:r>
              <a:rPr lang="en-US" sz="15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installs missing packages, skips if port </a:t>
            </a:r>
            <a:r>
              <a:rPr lang="en-US" sz="1500" b="1" i="0" dirty="0">
                <a:solidFill>
                  <a:srgbClr val="1D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8000</a:t>
            </a:r>
            <a:r>
              <a:rPr lang="en-US" sz="15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busy, then runs </a:t>
            </a:r>
            <a:r>
              <a:rPr lang="en-US" sz="1500" b="1" i="0" dirty="0">
                <a:solidFill>
                  <a:srgbClr val="1D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Uvicorn</a:t>
            </a:r>
            <a:r>
              <a:rPr lang="en-US" sz="15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500" dirty="0"/>
          </a:p>
          <a:p>
            <a:pPr marL="285750" indent="-285750" algn="l">
              <a:lnSpc>
                <a:spcPct val="108000"/>
              </a:lnSpc>
              <a:spcAft>
                <a:spcPts val="800"/>
              </a:spcAft>
              <a:buClr>
                <a:srgbClr val="1D5FA8"/>
              </a:buClr>
              <a:buFont typeface="Arial"/>
              <a:buAutoNum type="arabicPeriod"/>
            </a:pPr>
            <a:r>
              <a:rPr lang="en-US" sz="15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</a:t>
            </a:r>
            <a:r>
              <a:rPr lang="en-US" sz="1500" b="1" i="0" dirty="0">
                <a:solidFill>
                  <a:srgbClr val="1D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Live</a:t>
            </a:r>
            <a:r>
              <a:rPr lang="en-US" sz="15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r>
              <a:rPr lang="en-US" sz="1425" b="1" i="0" dirty="0">
                <a:solidFill>
                  <a:srgbClr val="2747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r>
              <a:rPr lang="en-US" sz="15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talks to </a:t>
            </a:r>
            <a:r>
              <a:rPr lang="en-US" sz="1425" b="1" i="0" dirty="0">
                <a:solidFill>
                  <a:srgbClr val="2747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http://127.0.0.1:8000</a:t>
            </a:r>
            <a:r>
              <a:rPr lang="en-US" sz="15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500" dirty="0"/>
          </a:p>
          <a:p>
            <a:pPr marL="285750" indent="-285750" algn="l">
              <a:lnSpc>
                <a:spcPct val="108000"/>
              </a:lnSpc>
              <a:spcAft>
                <a:spcPts val="0"/>
              </a:spcAft>
              <a:buClr>
                <a:srgbClr val="1D5FA8"/>
              </a:buClr>
              <a:buFont typeface="Arial"/>
              <a:buAutoNum type="arabicPeriod"/>
            </a:pPr>
            <a:r>
              <a:rPr lang="en-US" sz="1500" b="1" i="0" dirty="0">
                <a:solidFill>
                  <a:srgbClr val="1F2937"/>
                </a:solidFill>
                <a:highlight>
                  <a:srgbClr val="FFF0A8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Header shows a green dot</a:t>
            </a:r>
            <a:r>
              <a:rPr lang="en-US" sz="15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when the server is connected.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E6F0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906000" y="0"/>
            <a:ext cx="952500" cy="952500"/>
          </a:xfrm>
          <a:prstGeom prst="roundRect">
            <a:avLst>
              <a:gd name="adj" fmla="val 50000"/>
            </a:avLst>
          </a:prstGeom>
          <a:solidFill>
            <a:srgbClr val="CFE3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0795000" y="254000"/>
            <a:ext cx="571500" cy="571500"/>
          </a:xfrm>
          <a:prstGeom prst="roundRect">
            <a:avLst>
              <a:gd name="adj" fmla="val 50000"/>
            </a:avLst>
          </a:prstGeom>
          <a:solidFill>
            <a:srgbClr val="C9ECD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9398000" y="44450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FBD9B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0" y="952500"/>
            <a:ext cx="4064000" cy="50800"/>
          </a:xfrm>
          <a:prstGeom prst="rect">
            <a:avLst/>
          </a:prstGeom>
          <a:solidFill>
            <a:srgbClr val="7DB3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064000" y="952500"/>
            <a:ext cx="4064000" cy="50800"/>
          </a:xfrm>
          <a:prstGeom prst="rect">
            <a:avLst/>
          </a:prstGeom>
          <a:solidFill>
            <a:srgbClr val="7FD1A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8128000" y="952500"/>
            <a:ext cx="4064000" cy="50800"/>
          </a:xfrm>
          <a:prstGeom prst="rect">
            <a:avLst/>
          </a:prstGeom>
          <a:solidFill>
            <a:srgbClr val="F6B4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itle 9"/>
          <p:cNvSpPr>
            <a:spLocks noGrp="1"/>
          </p:cNvSpPr>
          <p:nvPr>
            <p:ph type="title" idx="4294967295"/>
          </p:nvPr>
        </p:nvSpPr>
        <p:spPr>
          <a:xfrm>
            <a:off x="812800" y="292100"/>
            <a:ext cx="850265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2747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Summary: backend.py (API)</a:t>
            </a:r>
          </a:p>
        </p:txBody>
      </p:sp>
      <p:sp>
        <p:nvSpPr>
          <p:cNvPr id="10" name="Footer 10"/>
          <p:cNvSpPr txBox="1"/>
          <p:nvPr/>
        </p:nvSpPr>
        <p:spPr>
          <a:xfrm>
            <a:off x="812800" y="6238241"/>
            <a:ext cx="45783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0" i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ZapStream · Project Presentation</a:t>
            </a:r>
          </a:p>
        </p:txBody>
      </p:sp>
      <p:sp>
        <p:nvSpPr>
          <p:cNvPr id="11" name="Footer 11"/>
          <p:cNvSpPr txBox="1"/>
          <p:nvPr/>
        </p:nvSpPr>
        <p:spPr>
          <a:xfrm>
            <a:off x="10058400" y="6238241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1200" b="0" i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18</a:t>
            </a:r>
          </a:p>
        </p:txBody>
      </p:sp>
      <p:sp>
        <p:nvSpPr>
          <p:cNvPr id="13" name="Card 10"/>
          <p:cNvSpPr/>
          <p:nvPr/>
        </p:nvSpPr>
        <p:spPr>
          <a:xfrm>
            <a:off x="820440" y="1390000"/>
            <a:ext cx="10560000" cy="3742152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endParaRPr lang="en-IN"/>
          </a:p>
        </p:txBody>
      </p:sp>
      <p:graphicFrame>
        <p:nvGraphicFramePr>
          <p:cNvPr id="14" name="Table 11"/>
          <p:cNvGraphicFramePr>
            <a:graphicFrameLocks noGrp="1"/>
          </p:cNvGraphicFramePr>
          <p:nvPr/>
        </p:nvGraphicFramePr>
        <p:xfrm>
          <a:off x="980440" y="1500000"/>
          <a:ext cx="10240000" cy="3522152"/>
        </p:xfrm>
        <a:graphic>
          <a:graphicData uri="http://schemas.openxmlformats.org/drawingml/2006/table">
            <a:tbl>
              <a:tblPr/>
              <a:tblGrid>
                <a:gridCol w="22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4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00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dirty="0">
                          <a:solidFill>
                            <a:srgbClr val="2747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Endpoint</a:t>
                      </a:r>
                      <a:endParaRPr lang="en-US" sz="135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  <a:solidFill>
                      <a:srgbClr val="E3EF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dirty="0">
                          <a:solidFill>
                            <a:srgbClr val="2747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the code does</a:t>
                      </a:r>
                      <a:endParaRPr lang="en-US" sz="135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  <a:solidFill>
                      <a:srgbClr val="E3EF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dirty="0">
                          <a:solidFill>
                            <a:srgbClr val="2747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point</a:t>
                      </a:r>
                      <a:endParaRPr lang="en-US" sz="135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  <a:solidFill>
                      <a:srgbClr val="E3EF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038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dirty="0">
                          <a:solidFill>
                            <a:srgbClr val="2747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GET /api/info</a:t>
                      </a:r>
                      <a:endParaRPr lang="en-US" sz="135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yt-dlp </a:t>
                      </a:r>
                      <a:r>
                        <a:rPr lang="en-US" sz="1282" b="1" i="0" dirty="0">
                          <a:solidFill>
                            <a:srgbClr val="27476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extract_info(download=False)</a:t>
                      </a:r>
                      <a:r>
                        <a:rPr lang="en-US" sz="1350" b="0" i="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returns title, channel, views, likes, formats</a:t>
                      </a:r>
                      <a:endParaRPr lang="en-US" sz="135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Nothing is downloaded</a:t>
                      </a:r>
                      <a:endParaRPr lang="en-US" sz="135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038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dirty="0">
                          <a:solidFill>
                            <a:srgbClr val="2747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 /api/download</a:t>
                      </a:r>
                      <a:endParaRPr lang="en-US" sz="135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Starts </a:t>
                      </a:r>
                      <a:r>
                        <a:rPr lang="en-US" sz="1282" b="1" i="0" dirty="0">
                          <a:solidFill>
                            <a:srgbClr val="27476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run_download</a:t>
                      </a:r>
                      <a:r>
                        <a:rPr lang="en-US" sz="1350" b="0" i="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in a thread with format, start and end</a:t>
                      </a:r>
                      <a:endParaRPr lang="en-US" sz="135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282" b="1" i="0" dirty="0">
                          <a:solidFill>
                            <a:srgbClr val="27476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download_range_func</a:t>
                      </a:r>
                      <a:r>
                        <a:rPr lang="en-US" sz="1350" b="0" i="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cuts the part</a:t>
                      </a:r>
                      <a:endParaRPr lang="en-US" sz="135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dirty="0">
                          <a:solidFill>
                            <a:srgbClr val="2747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 /api/notes</a:t>
                      </a:r>
                      <a:endParaRPr lang="en-US" sz="135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Starts </a:t>
                      </a:r>
                      <a:r>
                        <a:rPr lang="en-US" sz="1282" b="1" i="0" dirty="0">
                          <a:solidFill>
                            <a:srgbClr val="27476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run_notes</a:t>
                      </a:r>
                      <a:r>
                        <a:rPr lang="en-US" sz="1350" b="0" i="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: captions, sections, AI notes</a:t>
                      </a:r>
                      <a:endParaRPr lang="en-US" sz="135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Works on full video or a range</a:t>
                      </a:r>
                      <a:endParaRPr lang="en-US" sz="135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dirty="0">
                          <a:solidFill>
                            <a:srgbClr val="2747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GET /api/job/{id}</a:t>
                      </a:r>
                      <a:endParaRPr lang="en-US" sz="135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Returns status, progress, message and result</a:t>
                      </a:r>
                      <a:endParaRPr lang="en-US" sz="135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Browser polls every second</a:t>
                      </a:r>
                      <a:endParaRPr lang="en-US" sz="135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8038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dirty="0">
                          <a:solidFill>
                            <a:srgbClr val="2747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GET /api/file/{id}</a:t>
                      </a:r>
                      <a:endParaRPr lang="en-US" sz="135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Sends the finished file, then deletes the temp folder</a:t>
                      </a:r>
                      <a:endParaRPr lang="en-US" sz="135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Automatic clean-up</a:t>
                      </a:r>
                      <a:endParaRPr lang="en-US" sz="135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8038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dirty="0">
                          <a:solidFill>
                            <a:srgbClr val="2747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GET /api/health</a:t>
                      </a:r>
                      <a:endParaRPr lang="en-US" sz="135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Reports ffmpeg found and AI provider (ollama, claude or none)</a:t>
                      </a:r>
                      <a:endParaRPr lang="en-US" sz="135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Drives the green status dot</a:t>
                      </a:r>
                      <a:endParaRPr lang="en-US" sz="135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Callout 12"/>
          <p:cNvSpPr/>
          <p:nvPr/>
        </p:nvSpPr>
        <p:spPr>
          <a:xfrm>
            <a:off x="812800" y="5332152"/>
            <a:ext cx="10566400" cy="720000"/>
          </a:xfrm>
          <a:prstGeom prst="roundRect">
            <a:avLst>
              <a:gd name="adj" fmla="val 9000"/>
            </a:avLst>
          </a:prstGeom>
          <a:solidFill>
            <a:srgbClr val="FEF3C7"/>
          </a:solidFill>
          <a:ln>
            <a:noFill/>
          </a:ln>
        </p:spPr>
        <p:txBody>
          <a:bodyPr wrap="square" lIns="182880" tIns="182880" rIns="182880" bIns="182880" rtlCol="0" anchor="ctr">
            <a:norm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1F2937"/>
                </a:solidFill>
                <a:highlight>
                  <a:srgbClr val="FFF0A8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Design idea:</a:t>
            </a:r>
            <a:r>
              <a:rPr lang="en-US" sz="14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</a:t>
            </a:r>
            <a:r>
              <a:rPr lang="en-US" sz="1330" b="1" i="0" dirty="0">
                <a:solidFill>
                  <a:srgbClr val="2747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JOBS</a:t>
            </a:r>
            <a:r>
              <a:rPr lang="en-US" sz="14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dictionary plus background threads keep the page responsive during long downloads and AI notes.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E6F0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906000" y="0"/>
            <a:ext cx="952500" cy="952500"/>
          </a:xfrm>
          <a:prstGeom prst="roundRect">
            <a:avLst>
              <a:gd name="adj" fmla="val 50000"/>
            </a:avLst>
          </a:prstGeom>
          <a:solidFill>
            <a:srgbClr val="CFE3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0795000" y="254000"/>
            <a:ext cx="571500" cy="571500"/>
          </a:xfrm>
          <a:prstGeom prst="roundRect">
            <a:avLst>
              <a:gd name="adj" fmla="val 50000"/>
            </a:avLst>
          </a:prstGeom>
          <a:solidFill>
            <a:srgbClr val="C9ECD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9398000" y="44450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FBD9B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0" y="952500"/>
            <a:ext cx="4064000" cy="50800"/>
          </a:xfrm>
          <a:prstGeom prst="rect">
            <a:avLst/>
          </a:prstGeom>
          <a:solidFill>
            <a:srgbClr val="7DB3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064000" y="952500"/>
            <a:ext cx="4064000" cy="50800"/>
          </a:xfrm>
          <a:prstGeom prst="rect">
            <a:avLst/>
          </a:prstGeom>
          <a:solidFill>
            <a:srgbClr val="7FD1A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8128000" y="952500"/>
            <a:ext cx="4064000" cy="50800"/>
          </a:xfrm>
          <a:prstGeom prst="rect">
            <a:avLst/>
          </a:prstGeom>
          <a:solidFill>
            <a:srgbClr val="F6B4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itle 9"/>
          <p:cNvSpPr>
            <a:spLocks noGrp="1"/>
          </p:cNvSpPr>
          <p:nvPr>
            <p:ph type="title" idx="4294967295"/>
          </p:nvPr>
        </p:nvSpPr>
        <p:spPr>
          <a:xfrm>
            <a:off x="812800" y="292100"/>
            <a:ext cx="850265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2747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Summary: Study Notes Pipeline</a:t>
            </a:r>
          </a:p>
        </p:txBody>
      </p:sp>
      <p:sp>
        <p:nvSpPr>
          <p:cNvPr id="10" name="Footer 10"/>
          <p:cNvSpPr txBox="1"/>
          <p:nvPr/>
        </p:nvSpPr>
        <p:spPr>
          <a:xfrm>
            <a:off x="812800" y="6238241"/>
            <a:ext cx="45783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0" i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ZapStream · Project Presentation</a:t>
            </a:r>
          </a:p>
        </p:txBody>
      </p:sp>
      <p:sp>
        <p:nvSpPr>
          <p:cNvPr id="11" name="Footer 11"/>
          <p:cNvSpPr txBox="1"/>
          <p:nvPr/>
        </p:nvSpPr>
        <p:spPr>
          <a:xfrm>
            <a:off x="10058400" y="6238241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1200" b="0" i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18</a:t>
            </a:r>
          </a:p>
        </p:txBody>
      </p:sp>
      <p:sp>
        <p:nvSpPr>
          <p:cNvPr id="23" name="Card 10"/>
          <p:cNvSpPr/>
          <p:nvPr/>
        </p:nvSpPr>
        <p:spPr>
          <a:xfrm>
            <a:off x="812800" y="1397000"/>
            <a:ext cx="5400000" cy="4450000"/>
          </a:xfrm>
          <a:prstGeom prst="roundRect">
            <a:avLst>
              <a:gd name="adj" fmla="val 2857"/>
            </a:avLst>
          </a:prstGeom>
          <a:solidFill>
            <a:srgbClr val="E3EFFD"/>
          </a:solidFill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endParaRPr lang="en-IN"/>
          </a:p>
        </p:txBody>
      </p:sp>
      <p:sp>
        <p:nvSpPr>
          <p:cNvPr id="24" name="Text 11"/>
          <p:cNvSpPr txBox="1"/>
          <p:nvPr/>
        </p:nvSpPr>
        <p:spPr>
          <a:xfrm>
            <a:off x="1041400" y="1580000"/>
            <a:ext cx="49428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spcAft>
                <a:spcPts val="0"/>
              </a:spcAft>
              <a:buNone/>
            </a:pPr>
            <a:r>
              <a:rPr lang="en-US" sz="1700" b="1" i="0" dirty="0">
                <a:solidFill>
                  <a:srgbClr val="2747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notes pipeline</a:t>
            </a:r>
            <a:endParaRPr lang="en-US" sz="1700" dirty="0"/>
          </a:p>
        </p:txBody>
      </p:sp>
      <p:sp>
        <p:nvSpPr>
          <p:cNvPr id="12" name="Text 12"/>
          <p:cNvSpPr txBox="1"/>
          <p:nvPr/>
        </p:nvSpPr>
        <p:spPr>
          <a:xfrm>
            <a:off x="1041400" y="2000000"/>
            <a:ext cx="4942800" cy="37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285750" indent="-285750" algn="l">
              <a:lnSpc>
                <a:spcPct val="108000"/>
              </a:lnSpc>
              <a:spcAft>
                <a:spcPts val="500"/>
              </a:spcAft>
              <a:buClr>
                <a:srgbClr val="1D5FA8"/>
              </a:buClr>
              <a:buFont typeface="Arial"/>
              <a:buAutoNum type="arabicPeriod"/>
            </a:pPr>
            <a:r>
              <a:rPr lang="en-US" sz="1425" b="1" i="0" dirty="0">
                <a:solidFill>
                  <a:srgbClr val="2747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pick_sub()</a:t>
            </a:r>
            <a:r>
              <a:rPr lang="en-US" sz="15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chooses English or Hindi captions (VTT).</a:t>
            </a:r>
            <a:endParaRPr lang="en-US" sz="1500" dirty="0"/>
          </a:p>
          <a:p>
            <a:pPr marL="285750" indent="-285750" algn="l">
              <a:lnSpc>
                <a:spcPct val="108000"/>
              </a:lnSpc>
              <a:spcAft>
                <a:spcPts val="500"/>
              </a:spcAft>
              <a:buClr>
                <a:srgbClr val="1D5FA8"/>
              </a:buClr>
              <a:buFont typeface="Arial"/>
              <a:buAutoNum type="arabicPeriod"/>
            </a:pPr>
            <a:r>
              <a:rPr lang="en-US" sz="1425" b="1" i="0" dirty="0">
                <a:solidFill>
                  <a:srgbClr val="2747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parse_vtt()</a:t>
            </a:r>
            <a:r>
              <a:rPr lang="en-US" sz="15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removes tags and repeated lines.</a:t>
            </a:r>
            <a:endParaRPr lang="en-US" sz="1500" dirty="0"/>
          </a:p>
          <a:p>
            <a:pPr marL="285750" indent="-285750" algn="l">
              <a:lnSpc>
                <a:spcPct val="108000"/>
              </a:lnSpc>
              <a:spcAft>
                <a:spcPts val="500"/>
              </a:spcAft>
              <a:buClr>
                <a:srgbClr val="1D5FA8"/>
              </a:buClr>
              <a:buFont typeface="Arial"/>
              <a:buAutoNum type="arabicPeriod"/>
            </a:pPr>
            <a:r>
              <a:rPr lang="en-US" sz="1425" b="1" i="0" dirty="0">
                <a:solidFill>
                  <a:srgbClr val="2747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make_sections()</a:t>
            </a:r>
            <a:r>
              <a:rPr lang="en-US" sz="15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splits by chapters or about 5-minute blocks.</a:t>
            </a:r>
            <a:endParaRPr lang="en-US" sz="1500" dirty="0"/>
          </a:p>
          <a:p>
            <a:pPr marL="285750" indent="-285750" algn="l">
              <a:lnSpc>
                <a:spcPct val="108000"/>
              </a:lnSpc>
              <a:spcAft>
                <a:spcPts val="500"/>
              </a:spcAft>
              <a:buClr>
                <a:srgbClr val="1D5FA8"/>
              </a:buClr>
              <a:buFont typeface="Arial"/>
              <a:buAutoNum type="arabicPeriod"/>
            </a:pPr>
            <a:r>
              <a:rPr lang="en-US" sz="1425" b="1" i="0" dirty="0">
                <a:solidFill>
                  <a:srgbClr val="2747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ask_llm()</a:t>
            </a:r>
            <a:r>
              <a:rPr lang="en-US" sz="15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sends </a:t>
            </a:r>
            <a:r>
              <a:rPr lang="en-US" sz="1425" b="1" i="0" dirty="0">
                <a:solidFill>
                  <a:srgbClr val="2747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SECTION_PROMPT</a:t>
            </a:r>
            <a:r>
              <a:rPr lang="en-US" sz="15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AI replies in </a:t>
            </a:r>
            <a:r>
              <a:rPr lang="en-US" sz="1500" b="1" i="0" dirty="0">
                <a:solidFill>
                  <a:srgbClr val="1D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</a:t>
            </a:r>
            <a:r>
              <a:rPr lang="en-US" sz="15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(concepts, steps, takeaways).</a:t>
            </a:r>
            <a:endParaRPr lang="en-US" sz="1500" dirty="0"/>
          </a:p>
          <a:p>
            <a:pPr marL="285750" indent="-285750" algn="l">
              <a:lnSpc>
                <a:spcPct val="108000"/>
              </a:lnSpc>
              <a:spcAft>
                <a:spcPts val="500"/>
              </a:spcAft>
              <a:buClr>
                <a:srgbClr val="1D5FA8"/>
              </a:buClr>
              <a:buFont typeface="Arial"/>
              <a:buAutoNum type="arabicPeriod"/>
            </a:pPr>
            <a:r>
              <a:rPr lang="en-US" sz="1425" b="1" i="0" dirty="0">
                <a:solidFill>
                  <a:srgbClr val="2747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FINAL_PROMPT</a:t>
            </a:r>
            <a:r>
              <a:rPr lang="en-US" sz="15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adds overview, glossary, quiz and revision sheet.</a:t>
            </a:r>
            <a:endParaRPr lang="en-US" sz="1500" dirty="0"/>
          </a:p>
          <a:p>
            <a:pPr marL="285750" indent="-285750" algn="l">
              <a:lnSpc>
                <a:spcPct val="108000"/>
              </a:lnSpc>
              <a:spcAft>
                <a:spcPts val="0"/>
              </a:spcAft>
              <a:buClr>
                <a:srgbClr val="1D5FA8"/>
              </a:buClr>
              <a:buFont typeface="Arial"/>
              <a:buAutoNum type="arabicPeriod"/>
            </a:pPr>
            <a:r>
              <a:rPr lang="en-US" sz="1500" b="1" i="0" dirty="0">
                <a:solidFill>
                  <a:srgbClr val="1F2937"/>
                </a:solidFill>
                <a:highlight>
                  <a:srgbClr val="FFF0A8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Fallback:</a:t>
            </a:r>
            <a:r>
              <a:rPr lang="en-US" sz="15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25" b="1" i="0" dirty="0">
                <a:solidFill>
                  <a:srgbClr val="2747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summarize()</a:t>
            </a:r>
            <a:r>
              <a:rPr lang="en-US" sz="15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picks key sentences if AI is off.</a:t>
            </a:r>
            <a:endParaRPr lang="en-US" sz="1500" dirty="0"/>
          </a:p>
        </p:txBody>
      </p:sp>
      <p:sp>
        <p:nvSpPr>
          <p:cNvPr id="13" name="Card 13"/>
          <p:cNvSpPr/>
          <p:nvPr/>
        </p:nvSpPr>
        <p:spPr>
          <a:xfrm>
            <a:off x="6350000" y="1397000"/>
            <a:ext cx="5029200" cy="4450000"/>
          </a:xfrm>
          <a:prstGeom prst="roundRect">
            <a:avLst>
              <a:gd name="adj" fmla="val 2857"/>
            </a:avLst>
          </a:prstGeom>
          <a:solidFill>
            <a:srgbClr val="DEF4EA"/>
          </a:solidFill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endParaRPr lang="en-IN"/>
          </a:p>
        </p:txBody>
      </p:sp>
      <p:sp>
        <p:nvSpPr>
          <p:cNvPr id="14" name="Text 14"/>
          <p:cNvSpPr txBox="1"/>
          <p:nvPr/>
        </p:nvSpPr>
        <p:spPr>
          <a:xfrm>
            <a:off x="6578600" y="1580000"/>
            <a:ext cx="4572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spcAft>
                <a:spcPts val="0"/>
              </a:spcAft>
              <a:buNone/>
            </a:pPr>
            <a:r>
              <a:rPr lang="en-US" sz="1700" b="1" i="0" dirty="0">
                <a:solidFill>
                  <a:srgbClr val="2747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lines of code</a:t>
            </a:r>
            <a:endParaRPr lang="en-US" sz="1700" dirty="0"/>
          </a:p>
        </p:txBody>
      </p:sp>
      <p:sp>
        <p:nvSpPr>
          <p:cNvPr id="15" name="Text 15"/>
          <p:cNvSpPr txBox="1"/>
          <p:nvPr/>
        </p:nvSpPr>
        <p:spPr>
          <a:xfrm>
            <a:off x="6578600" y="2030000"/>
            <a:ext cx="4572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spcAft>
                <a:spcPts val="0"/>
              </a:spcAft>
              <a:buNone/>
            </a:pPr>
            <a:r>
              <a:rPr lang="en-US" sz="1250" b="1" i="0" dirty="0">
                <a:solidFill>
                  <a:srgbClr val="2747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 only the chosen part</a:t>
            </a:r>
            <a:endParaRPr lang="en-US" sz="1250" dirty="0"/>
          </a:p>
        </p:txBody>
      </p:sp>
      <p:sp>
        <p:nvSpPr>
          <p:cNvPr id="16" name="Code 16"/>
          <p:cNvSpPr/>
          <p:nvPr/>
        </p:nvSpPr>
        <p:spPr>
          <a:xfrm>
            <a:off x="6578600" y="2300000"/>
            <a:ext cx="4572000" cy="43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7DB3F0"/>
            </a:solidFill>
          </a:ln>
        </p:spPr>
        <p:txBody>
          <a:bodyPr wrap="square" lIns="91440" tIns="91440" rIns="91440" bIns="91440" rtlCol="0" anchor="ctr">
            <a:norm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150" b="0" i="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download_range_func(None, [(start, end)])</a:t>
            </a:r>
            <a:endParaRPr lang="en-US" sz="1150" dirty="0"/>
          </a:p>
        </p:txBody>
      </p:sp>
      <p:sp>
        <p:nvSpPr>
          <p:cNvPr id="17" name="Text 17"/>
          <p:cNvSpPr txBox="1"/>
          <p:nvPr/>
        </p:nvSpPr>
        <p:spPr>
          <a:xfrm>
            <a:off x="6578600" y="2940000"/>
            <a:ext cx="4572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spcAft>
                <a:spcPts val="0"/>
              </a:spcAft>
              <a:buNone/>
            </a:pPr>
            <a:r>
              <a:rPr lang="en-US" sz="1250" b="1" i="0" dirty="0">
                <a:solidFill>
                  <a:srgbClr val="2747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the AI automatically</a:t>
            </a:r>
            <a:endParaRPr lang="en-US" sz="1250" dirty="0"/>
          </a:p>
        </p:txBody>
      </p:sp>
      <p:sp>
        <p:nvSpPr>
          <p:cNvPr id="18" name="Code 18"/>
          <p:cNvSpPr/>
          <p:nvPr/>
        </p:nvSpPr>
        <p:spPr>
          <a:xfrm>
            <a:off x="6578600" y="3210000"/>
            <a:ext cx="4572000" cy="43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7DB3F0"/>
            </a:solidFill>
          </a:ln>
        </p:spPr>
        <p:txBody>
          <a:bodyPr wrap="square" lIns="91440" tIns="91440" rIns="91440" bIns="91440" rtlCol="0" anchor="ctr">
            <a:norm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150" b="0" i="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ai_provider()  # claude, ollama, None</a:t>
            </a:r>
            <a:endParaRPr lang="en-US" sz="1150" dirty="0"/>
          </a:p>
        </p:txBody>
      </p:sp>
      <p:sp>
        <p:nvSpPr>
          <p:cNvPr id="19" name="Text 19"/>
          <p:cNvSpPr txBox="1"/>
          <p:nvPr/>
        </p:nvSpPr>
        <p:spPr>
          <a:xfrm>
            <a:off x="6578600" y="3850000"/>
            <a:ext cx="4572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spcAft>
                <a:spcPts val="0"/>
              </a:spcAft>
              <a:buNone/>
            </a:pPr>
            <a:r>
              <a:rPr lang="en-US" sz="1250" b="1" i="0" dirty="0">
                <a:solidFill>
                  <a:srgbClr val="2747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the model for notes</a:t>
            </a:r>
            <a:endParaRPr lang="en-US" sz="1250" dirty="0"/>
          </a:p>
        </p:txBody>
      </p:sp>
      <p:sp>
        <p:nvSpPr>
          <p:cNvPr id="20" name="Code 20"/>
          <p:cNvSpPr/>
          <p:nvPr/>
        </p:nvSpPr>
        <p:spPr>
          <a:xfrm>
            <a:off x="6578600" y="4120000"/>
            <a:ext cx="4572000" cy="43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7DB3F0"/>
            </a:solidFill>
          </a:ln>
        </p:spPr>
        <p:txBody>
          <a:bodyPr wrap="square" lIns="91440" tIns="91440" rIns="91440" bIns="91440" rtlCol="0" anchor="ctr">
            <a:norm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150" b="0" i="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parse_json(ask_llm(SECTION_PROMPT))</a:t>
            </a:r>
            <a:endParaRPr lang="en-US" sz="1150" dirty="0"/>
          </a:p>
        </p:txBody>
      </p:sp>
      <p:sp>
        <p:nvSpPr>
          <p:cNvPr id="21" name="Text 21"/>
          <p:cNvSpPr txBox="1"/>
          <p:nvPr/>
        </p:nvSpPr>
        <p:spPr>
          <a:xfrm>
            <a:off x="6578600" y="4760000"/>
            <a:ext cx="4572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spcAft>
                <a:spcPts val="0"/>
              </a:spcAft>
              <a:buNone/>
            </a:pPr>
            <a:r>
              <a:rPr lang="en-US" sz="1250" b="1" i="0" dirty="0">
                <a:solidFill>
                  <a:srgbClr val="2747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captions? Transcribe audio</a:t>
            </a:r>
            <a:endParaRPr lang="en-US" sz="1250" dirty="0"/>
          </a:p>
        </p:txBody>
      </p:sp>
      <p:sp>
        <p:nvSpPr>
          <p:cNvPr id="22" name="Code 22"/>
          <p:cNvSpPr/>
          <p:nvPr/>
        </p:nvSpPr>
        <p:spPr>
          <a:xfrm>
            <a:off x="6578600" y="5030000"/>
            <a:ext cx="4572000" cy="43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7DB3F0"/>
            </a:solidFill>
          </a:ln>
        </p:spPr>
        <p:txBody>
          <a:bodyPr wrap="square" lIns="91440" tIns="91440" rIns="91440" bIns="91440" rtlCol="0" anchor="ctr">
            <a:norm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150" b="0" i="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WhisperModel("base").transcribe(f)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E6F0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906000" y="0"/>
            <a:ext cx="952500" cy="952500"/>
          </a:xfrm>
          <a:prstGeom prst="roundRect">
            <a:avLst>
              <a:gd name="adj" fmla="val 50000"/>
            </a:avLst>
          </a:prstGeom>
          <a:solidFill>
            <a:srgbClr val="CFE3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0795000" y="254000"/>
            <a:ext cx="571500" cy="571500"/>
          </a:xfrm>
          <a:prstGeom prst="roundRect">
            <a:avLst>
              <a:gd name="adj" fmla="val 50000"/>
            </a:avLst>
          </a:prstGeom>
          <a:solidFill>
            <a:srgbClr val="C9ECD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9398000" y="44450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FBD9B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0" y="952500"/>
            <a:ext cx="4064000" cy="50800"/>
          </a:xfrm>
          <a:prstGeom prst="rect">
            <a:avLst/>
          </a:prstGeom>
          <a:solidFill>
            <a:srgbClr val="7DB3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064000" y="952500"/>
            <a:ext cx="4064000" cy="50800"/>
          </a:xfrm>
          <a:prstGeom prst="rect">
            <a:avLst/>
          </a:prstGeom>
          <a:solidFill>
            <a:srgbClr val="7FD1A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8128000" y="952500"/>
            <a:ext cx="4064000" cy="50800"/>
          </a:xfrm>
          <a:prstGeom prst="rect">
            <a:avLst/>
          </a:prstGeom>
          <a:solidFill>
            <a:srgbClr val="F6B4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itle 9"/>
          <p:cNvSpPr>
            <a:spLocks noGrp="1"/>
          </p:cNvSpPr>
          <p:nvPr>
            <p:ph type="title" idx="4294967295"/>
          </p:nvPr>
        </p:nvSpPr>
        <p:spPr>
          <a:xfrm>
            <a:off x="812800" y="292100"/>
            <a:ext cx="850265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2747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Summary: index.html (Frontend)</a:t>
            </a:r>
          </a:p>
        </p:txBody>
      </p:sp>
      <p:sp>
        <p:nvSpPr>
          <p:cNvPr id="10" name="Footer 10"/>
          <p:cNvSpPr txBox="1"/>
          <p:nvPr/>
        </p:nvSpPr>
        <p:spPr>
          <a:xfrm>
            <a:off x="812800" y="6238241"/>
            <a:ext cx="45783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0" i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ZapStream · Project Presentation</a:t>
            </a:r>
          </a:p>
        </p:txBody>
      </p:sp>
      <p:sp>
        <p:nvSpPr>
          <p:cNvPr id="11" name="Footer 11"/>
          <p:cNvSpPr txBox="1"/>
          <p:nvPr/>
        </p:nvSpPr>
        <p:spPr>
          <a:xfrm>
            <a:off x="10058400" y="6238241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1200" b="0" i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18</a:t>
            </a:r>
          </a:p>
        </p:txBody>
      </p:sp>
      <p:sp>
        <p:nvSpPr>
          <p:cNvPr id="12" name="Card 10"/>
          <p:cNvSpPr/>
          <p:nvPr/>
        </p:nvSpPr>
        <p:spPr>
          <a:xfrm>
            <a:off x="820440" y="1390000"/>
            <a:ext cx="10560000" cy="39800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endParaRPr lang="en-IN"/>
          </a:p>
        </p:txBody>
      </p:sp>
      <p:graphicFrame>
        <p:nvGraphicFramePr>
          <p:cNvPr id="13" name="Table 11"/>
          <p:cNvGraphicFramePr>
            <a:graphicFrameLocks noGrp="1"/>
          </p:cNvGraphicFramePr>
          <p:nvPr/>
        </p:nvGraphicFramePr>
        <p:xfrm>
          <a:off x="980440" y="1500000"/>
          <a:ext cx="10240000" cy="3760000"/>
        </p:xfrm>
        <a:graphic>
          <a:graphicData uri="http://schemas.openxmlformats.org/drawingml/2006/table">
            <a:tbl>
              <a:tblPr/>
              <a:tblGrid>
                <a:gridCol w="24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00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dirty="0">
                          <a:solidFill>
                            <a:srgbClr val="2747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 of index.html</a:t>
                      </a:r>
                      <a:endParaRPr lang="en-US" sz="135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  <a:solidFill>
                      <a:srgbClr val="E3EF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dirty="0">
                          <a:solidFill>
                            <a:srgbClr val="2747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code</a:t>
                      </a:r>
                      <a:endParaRPr lang="en-US" sz="135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  <a:solidFill>
                      <a:srgbClr val="E3EF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dirty="0">
                          <a:solidFill>
                            <a:srgbClr val="2747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does</a:t>
                      </a:r>
                      <a:endParaRPr lang="en-US" sz="135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  <a:solidFill>
                      <a:srgbClr val="E3EF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0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dirty="0">
                          <a:solidFill>
                            <a:srgbClr val="2747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Design and theme</a:t>
                      </a:r>
                      <a:endParaRPr lang="en-US" sz="135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CSS variables, </a:t>
                      </a:r>
                      <a:r>
                        <a:rPr lang="en-US" sz="1282" b="1" i="0" dirty="0">
                          <a:solidFill>
                            <a:srgbClr val="27476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.zapbar</a:t>
                      </a:r>
                      <a:r>
                        <a:rPr lang="en-US" sz="1350" b="0" i="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, dark mode</a:t>
                      </a:r>
                      <a:endParaRPr lang="en-US" sz="135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Responsive page with light and dark theme</a:t>
                      </a:r>
                      <a:endParaRPr lang="en-US" sz="135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0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dirty="0">
                          <a:solidFill>
                            <a:srgbClr val="2747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Server status</a:t>
                      </a:r>
                      <a:endParaRPr lang="en-US" sz="135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282" b="1" i="0" dirty="0">
                          <a:solidFill>
                            <a:srgbClr val="27476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health()</a:t>
                      </a:r>
                      <a:r>
                        <a:rPr lang="en-US" sz="1350" b="0" i="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every 5 seconds</a:t>
                      </a:r>
                      <a:endParaRPr lang="en-US" sz="135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 dot and "AI: ollama" label</a:t>
                      </a:r>
                      <a:endParaRPr lang="en-US" sz="135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0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dirty="0">
                          <a:solidFill>
                            <a:srgbClr val="2747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Find video</a:t>
                      </a:r>
                      <a:endParaRPr lang="en-US" sz="135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282" b="1" i="0" dirty="0">
                          <a:solidFill>
                            <a:srgbClr val="27476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fetch("/api/info")</a:t>
                      </a:r>
                      <a:endParaRPr lang="en-US" sz="135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Fills title, channel, views, likes, formats</a:t>
                      </a:r>
                      <a:endParaRPr lang="en-US" sz="135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0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dirty="0">
                          <a:solidFill>
                            <a:srgbClr val="2747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video or part</a:t>
                      </a:r>
                      <a:endParaRPr lang="en-US" sz="135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282" b="1" i="0" dirty="0">
                          <a:solidFill>
                            <a:srgbClr val="27476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getRange()</a:t>
                      </a:r>
                      <a:r>
                        <a:rPr lang="en-US" sz="1350" b="0" i="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, </a:t>
                      </a:r>
                      <a:r>
                        <a:rPr lang="en-US" sz="1282" b="1" i="0" dirty="0">
                          <a:solidFill>
                            <a:srgbClr val="27476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parseTime()</a:t>
                      </a:r>
                      <a:endParaRPr lang="en-US" sz="135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Checks start and end such as 1:30 and 4:45</a:t>
                      </a:r>
                      <a:endParaRPr lang="en-US" sz="135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0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dirty="0">
                          <a:solidFill>
                            <a:srgbClr val="2747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Job runner</a:t>
                      </a:r>
                      <a:endParaRPr lang="en-US" sz="135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282" b="1" i="0" dirty="0">
                          <a:solidFill>
                            <a:srgbClr val="27476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runJob()</a:t>
                      </a:r>
                      <a:r>
                        <a:rPr lang="en-US" sz="1350" b="0" i="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polls </a:t>
                      </a:r>
                      <a:r>
                        <a:rPr lang="en-US" sz="1282" b="1" i="0" dirty="0">
                          <a:solidFill>
                            <a:srgbClr val="27476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/api/job/{id}</a:t>
                      </a:r>
                      <a:endParaRPr lang="en-US" sz="135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Live progress bar for download and notes</a:t>
                      </a:r>
                      <a:endParaRPr lang="en-US" sz="135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0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dirty="0">
                          <a:solidFill>
                            <a:srgbClr val="2747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Study PDF</a:t>
                      </a:r>
                      <a:endParaRPr lang="en-US" sz="135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282" b="1" i="0" dirty="0">
                          <a:solidFill>
                            <a:srgbClr val="27476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renderNotes()</a:t>
                      </a:r>
                      <a:r>
                        <a:rPr lang="en-US" sz="1350" b="0" i="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, </a:t>
                      </a:r>
                      <a:r>
                        <a:rPr lang="en-US" sz="1282" b="1" i="0" dirty="0">
                          <a:solidFill>
                            <a:srgbClr val="27476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html2pdf().save()</a:t>
                      </a:r>
                      <a:endParaRPr lang="en-US" sz="135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Builds the notes page and saves the PDF</a:t>
                      </a:r>
                      <a:endParaRPr lang="en-US" sz="135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00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dirty="0">
                          <a:solidFill>
                            <a:srgbClr val="2747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Error handling</a:t>
                      </a:r>
                      <a:endParaRPr lang="en-US" sz="135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282" b="1" i="0" dirty="0">
                          <a:solidFill>
                            <a:srgbClr val="27476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errMsg()</a:t>
                      </a:r>
                      <a:r>
                        <a:rPr lang="en-US" sz="1350" b="0" i="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, </a:t>
                      </a:r>
                      <a:r>
                        <a:rPr lang="en-US" sz="1282" b="1" i="0" dirty="0">
                          <a:solidFill>
                            <a:srgbClr val="27476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isNetErr()</a:t>
                      </a:r>
                      <a:endParaRPr lang="en-US" sz="135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Separates server-offline from other errors</a:t>
                      </a:r>
                      <a:endParaRPr lang="en-US" sz="135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E6F0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906000" y="0"/>
            <a:ext cx="952500" cy="952500"/>
          </a:xfrm>
          <a:prstGeom prst="roundRect">
            <a:avLst>
              <a:gd name="adj" fmla="val 50000"/>
            </a:avLst>
          </a:prstGeom>
          <a:solidFill>
            <a:srgbClr val="CFE3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0795000" y="254000"/>
            <a:ext cx="571500" cy="571500"/>
          </a:xfrm>
          <a:prstGeom prst="roundRect">
            <a:avLst>
              <a:gd name="adj" fmla="val 50000"/>
            </a:avLst>
          </a:prstGeom>
          <a:solidFill>
            <a:srgbClr val="C9ECD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9398000" y="44450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FBD9B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0" y="952500"/>
            <a:ext cx="4064000" cy="50800"/>
          </a:xfrm>
          <a:prstGeom prst="rect">
            <a:avLst/>
          </a:prstGeom>
          <a:solidFill>
            <a:srgbClr val="7DB3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064000" y="952500"/>
            <a:ext cx="4064000" cy="50800"/>
          </a:xfrm>
          <a:prstGeom prst="rect">
            <a:avLst/>
          </a:prstGeom>
          <a:solidFill>
            <a:srgbClr val="7FD1A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8128000" y="952500"/>
            <a:ext cx="4064000" cy="50800"/>
          </a:xfrm>
          <a:prstGeom prst="rect">
            <a:avLst/>
          </a:prstGeom>
          <a:solidFill>
            <a:srgbClr val="F6B4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itle 9"/>
          <p:cNvSpPr>
            <a:spLocks noGrp="1"/>
          </p:cNvSpPr>
          <p:nvPr>
            <p:ph type="title" idx="4294967295"/>
          </p:nvPr>
        </p:nvSpPr>
        <p:spPr>
          <a:xfrm>
            <a:off x="812800" y="292100"/>
            <a:ext cx="850265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2747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Summary: Automation Files</a:t>
            </a:r>
          </a:p>
        </p:txBody>
      </p:sp>
      <p:sp>
        <p:nvSpPr>
          <p:cNvPr id="10" name="Footer 10"/>
          <p:cNvSpPr txBox="1"/>
          <p:nvPr/>
        </p:nvSpPr>
        <p:spPr>
          <a:xfrm>
            <a:off x="812800" y="6238241"/>
            <a:ext cx="45783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0" i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ZapStream · Project Presentation</a:t>
            </a:r>
          </a:p>
        </p:txBody>
      </p:sp>
      <p:sp>
        <p:nvSpPr>
          <p:cNvPr id="11" name="Footer 11"/>
          <p:cNvSpPr txBox="1"/>
          <p:nvPr/>
        </p:nvSpPr>
        <p:spPr>
          <a:xfrm>
            <a:off x="10058400" y="6238241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1200" b="0" i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18</a:t>
            </a:r>
          </a:p>
        </p:txBody>
      </p:sp>
      <p:sp>
        <p:nvSpPr>
          <p:cNvPr id="13" name="Card 10"/>
          <p:cNvSpPr/>
          <p:nvPr/>
        </p:nvSpPr>
        <p:spPr>
          <a:xfrm>
            <a:off x="820440" y="1390000"/>
            <a:ext cx="10560000" cy="3560596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endParaRPr lang="en-IN"/>
          </a:p>
        </p:txBody>
      </p:sp>
      <p:graphicFrame>
        <p:nvGraphicFramePr>
          <p:cNvPr id="14" name="Table 11"/>
          <p:cNvGraphicFramePr>
            <a:graphicFrameLocks noGrp="1"/>
          </p:cNvGraphicFramePr>
          <p:nvPr/>
        </p:nvGraphicFramePr>
        <p:xfrm>
          <a:off x="980440" y="1500000"/>
          <a:ext cx="10240000" cy="3340596"/>
        </p:xfrm>
        <a:graphic>
          <a:graphicData uri="http://schemas.openxmlformats.org/drawingml/2006/table">
            <a:tbl>
              <a:tblPr/>
              <a:tblGrid>
                <a:gridCol w="20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4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dirty="0">
                          <a:solidFill>
                            <a:srgbClr val="2747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File</a:t>
                      </a:r>
                      <a:endParaRPr lang="en-US" sz="140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  <a:solidFill>
                      <a:srgbClr val="E3EF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dirty="0">
                          <a:solidFill>
                            <a:srgbClr val="2747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Purpose</a:t>
                      </a:r>
                      <a:endParaRPr lang="en-US" sz="140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  <a:solidFill>
                      <a:srgbClr val="E3EF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dirty="0">
                          <a:solidFill>
                            <a:srgbClr val="2747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setting or line</a:t>
                      </a:r>
                      <a:endParaRPr lang="en-US" sz="140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  <a:solidFill>
                      <a:srgbClr val="E3EF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3532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dirty="0">
                          <a:solidFill>
                            <a:srgbClr val="2747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tasks.json</a:t>
                      </a:r>
                      <a:endParaRPr lang="en-US" sz="140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VS Code task that starts the backend</a:t>
                      </a:r>
                      <a:endParaRPr lang="en-US" sz="140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330" b="1" i="0" dirty="0">
                          <a:solidFill>
                            <a:srgbClr val="27476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"runOn": "folderOpen"</a:t>
                      </a:r>
                      <a:r>
                        <a:rPr lang="en-US" sz="1400" b="0" i="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, command </a:t>
                      </a:r>
                      <a:r>
                        <a:rPr lang="en-US" sz="1330" b="1" i="0" dirty="0">
                          <a:solidFill>
                            <a:srgbClr val="27476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python start.py</a:t>
                      </a:r>
                      <a:endParaRPr lang="en-US" sz="140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dirty="0">
                          <a:solidFill>
                            <a:srgbClr val="2747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settings.json</a:t>
                      </a:r>
                      <a:endParaRPr lang="en-US" sz="140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Live Server rules</a:t>
                      </a:r>
                      <a:endParaRPr lang="en-US" sz="140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Port </a:t>
                      </a:r>
                      <a:r>
                        <a:rPr lang="en-US" sz="1330" b="1" i="0" dirty="0">
                          <a:solidFill>
                            <a:srgbClr val="27476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5500</a:t>
                      </a:r>
                      <a:r>
                        <a:rPr lang="en-US" sz="1400" b="0" i="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; ignores </a:t>
                      </a:r>
                      <a:r>
                        <a:rPr lang="en-US" sz="1330" b="1" i="0" dirty="0">
                          <a:solidFill>
                            <a:srgbClr val="27476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*.py</a:t>
                      </a:r>
                      <a:r>
                        <a:rPr lang="en-US" sz="1400" b="0" i="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and </a:t>
                      </a:r>
                      <a:r>
                        <a:rPr lang="en-US" sz="1330" b="1" i="0" dirty="0">
                          <a:solidFill>
                            <a:srgbClr val="27476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.vscode</a:t>
                      </a:r>
                      <a:endParaRPr lang="en-US" sz="140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3532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dirty="0">
                          <a:solidFill>
                            <a:srgbClr val="2747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start.py</a:t>
                      </a:r>
                      <a:endParaRPr lang="en-US" sz="140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One-file launcher</a:t>
                      </a:r>
                      <a:endParaRPr lang="en-US" sz="140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Installs missing packages, updates yt-dlp weekly, then </a:t>
                      </a:r>
                      <a:r>
                        <a:rPr lang="en-US" sz="1330" b="1" i="0" dirty="0">
                          <a:solidFill>
                            <a:srgbClr val="27476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uvicorn.run("backend:app")</a:t>
                      </a:r>
                      <a:endParaRPr lang="en-US" sz="140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dirty="0">
                          <a:solidFill>
                            <a:srgbClr val="2747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start.bat</a:t>
                      </a:r>
                      <a:endParaRPr lang="en-US" sz="140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Manual backup</a:t>
                      </a:r>
                      <a:endParaRPr lang="en-US" sz="140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Double-click to run </a:t>
                      </a:r>
                      <a:r>
                        <a:rPr lang="en-US" sz="1330" b="1" i="0" dirty="0">
                          <a:solidFill>
                            <a:srgbClr val="27476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python start.py</a:t>
                      </a:r>
                      <a:endParaRPr lang="en-US" sz="140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3532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dirty="0">
                          <a:solidFill>
                            <a:srgbClr val="2747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.env</a:t>
                      </a:r>
                      <a:endParaRPr lang="en-US" sz="140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Chooses the AI without code changes</a:t>
                      </a:r>
                      <a:endParaRPr lang="en-US" sz="140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330" b="1" i="0" dirty="0">
                          <a:solidFill>
                            <a:srgbClr val="27476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OLLAMA_MODEL=llama3.2</a:t>
                      </a:r>
                      <a:r>
                        <a:rPr lang="en-US" sz="1400" b="0" i="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or </a:t>
                      </a:r>
                      <a:r>
                        <a:rPr lang="en-US" sz="1330" b="1" i="0" dirty="0">
                          <a:solidFill>
                            <a:srgbClr val="27476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ANTHROPIC_API_KEY=...</a:t>
                      </a:r>
                      <a:endParaRPr lang="en-US" sz="140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Callout 12"/>
          <p:cNvSpPr/>
          <p:nvPr/>
        </p:nvSpPr>
        <p:spPr>
          <a:xfrm>
            <a:off x="812800" y="5200596"/>
            <a:ext cx="10566400" cy="780000"/>
          </a:xfrm>
          <a:prstGeom prst="roundRect">
            <a:avLst>
              <a:gd name="adj" fmla="val 9000"/>
            </a:avLst>
          </a:prstGeom>
          <a:solidFill>
            <a:srgbClr val="FEF3C7"/>
          </a:solidFill>
          <a:ln>
            <a:noFill/>
          </a:ln>
        </p:spPr>
        <p:txBody>
          <a:bodyPr wrap="square" lIns="182880" tIns="182880" rIns="182880" bIns="182880" rtlCol="0" anchor="ctr">
            <a:norm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1F2937"/>
                </a:solidFill>
                <a:highlight>
                  <a:srgbClr val="FFF0A8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Why it matters:</a:t>
            </a:r>
            <a:r>
              <a:rPr lang="en-US" sz="14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student only opens the folder and clicks </a:t>
            </a:r>
            <a:r>
              <a:rPr lang="en-US" sz="1400" b="1" i="0" dirty="0">
                <a:solidFill>
                  <a:srgbClr val="1D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Live</a:t>
            </a:r>
            <a:r>
              <a:rPr lang="en-US" sz="14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No terminal commands are needed after the first setup.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E6F0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906000" y="0"/>
            <a:ext cx="952500" cy="952500"/>
          </a:xfrm>
          <a:prstGeom prst="roundRect">
            <a:avLst>
              <a:gd name="adj" fmla="val 50000"/>
            </a:avLst>
          </a:prstGeom>
          <a:solidFill>
            <a:srgbClr val="CFE3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0795000" y="254000"/>
            <a:ext cx="571500" cy="571500"/>
          </a:xfrm>
          <a:prstGeom prst="roundRect">
            <a:avLst>
              <a:gd name="adj" fmla="val 50000"/>
            </a:avLst>
          </a:prstGeom>
          <a:solidFill>
            <a:srgbClr val="C9ECD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9398000" y="44450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FBD9B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0" y="952500"/>
            <a:ext cx="4064000" cy="50800"/>
          </a:xfrm>
          <a:prstGeom prst="rect">
            <a:avLst/>
          </a:prstGeom>
          <a:solidFill>
            <a:srgbClr val="7DB3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064000" y="952500"/>
            <a:ext cx="4064000" cy="50800"/>
          </a:xfrm>
          <a:prstGeom prst="rect">
            <a:avLst/>
          </a:prstGeom>
          <a:solidFill>
            <a:srgbClr val="7FD1A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8128000" y="952500"/>
            <a:ext cx="4064000" cy="50800"/>
          </a:xfrm>
          <a:prstGeom prst="rect">
            <a:avLst/>
          </a:prstGeom>
          <a:solidFill>
            <a:srgbClr val="F6B4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itle 9"/>
          <p:cNvSpPr>
            <a:spLocks noGrp="1"/>
          </p:cNvSpPr>
          <p:nvPr>
            <p:ph type="title" idx="4294967295"/>
          </p:nvPr>
        </p:nvSpPr>
        <p:spPr>
          <a:xfrm>
            <a:off x="812800" y="292100"/>
            <a:ext cx="850265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2747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Commands Used: Setup &amp; Run</a:t>
            </a:r>
          </a:p>
        </p:txBody>
      </p:sp>
      <p:sp>
        <p:nvSpPr>
          <p:cNvPr id="10" name="Footer 10"/>
          <p:cNvSpPr txBox="1"/>
          <p:nvPr/>
        </p:nvSpPr>
        <p:spPr>
          <a:xfrm>
            <a:off x="812800" y="6238241"/>
            <a:ext cx="45783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0" i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ZapStream · Project Presentation</a:t>
            </a:r>
          </a:p>
        </p:txBody>
      </p:sp>
      <p:sp>
        <p:nvSpPr>
          <p:cNvPr id="11" name="Footer 11"/>
          <p:cNvSpPr txBox="1"/>
          <p:nvPr/>
        </p:nvSpPr>
        <p:spPr>
          <a:xfrm>
            <a:off x="10058400" y="6238241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1200" b="0" i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18</a:t>
            </a:r>
          </a:p>
        </p:txBody>
      </p:sp>
      <p:sp>
        <p:nvSpPr>
          <p:cNvPr id="12" name="Card 10"/>
          <p:cNvSpPr/>
          <p:nvPr/>
        </p:nvSpPr>
        <p:spPr>
          <a:xfrm>
            <a:off x="820440" y="1390000"/>
            <a:ext cx="10560000" cy="4156076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endParaRPr lang="en-IN"/>
          </a:p>
        </p:txBody>
      </p:sp>
      <p:graphicFrame>
        <p:nvGraphicFramePr>
          <p:cNvPr id="13" name="Table 11"/>
          <p:cNvGraphicFramePr>
            <a:graphicFrameLocks noGrp="1"/>
          </p:cNvGraphicFramePr>
          <p:nvPr/>
        </p:nvGraphicFramePr>
        <p:xfrm>
          <a:off x="980440" y="1500000"/>
          <a:ext cx="10240000" cy="3936076"/>
        </p:xfrm>
        <a:graphic>
          <a:graphicData uri="http://schemas.openxmlformats.org/drawingml/2006/table">
            <a:tbl>
              <a:tblPr/>
              <a:tblGrid>
                <a:gridCol w="4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00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dirty="0">
                          <a:solidFill>
                            <a:srgbClr val="2747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Command</a:t>
                      </a:r>
                      <a:endParaRPr lang="en-US" sz="135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  <a:solidFill>
                      <a:srgbClr val="E3EF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dirty="0">
                          <a:solidFill>
                            <a:srgbClr val="2747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Purpose</a:t>
                      </a:r>
                      <a:endParaRPr lang="en-US" sz="135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  <a:solidFill>
                      <a:srgbClr val="E3EF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0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pip install fastapi uvicorn yt-dlp</a:t>
                      </a:r>
                      <a:endParaRPr lang="en-US" sz="135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Install the backend libraries</a:t>
                      </a:r>
                      <a:endParaRPr lang="en-US" sz="135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0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winget install ffmpeg</a:t>
                      </a:r>
                      <a:endParaRPr lang="en-US" sz="135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Install ffmpeg for merging, cutting and MP3</a:t>
                      </a:r>
                      <a:endParaRPr lang="en-US" sz="135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0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ollama pull llama3.2</a:t>
                      </a:r>
                      <a:endParaRPr lang="en-US" sz="135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Download the local AI model (about 2 GB)</a:t>
                      </a:r>
                      <a:endParaRPr lang="en-US" sz="135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0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ollama list</a:t>
                      </a:r>
                      <a:endParaRPr lang="en-US" sz="135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Check that the model is installed</a:t>
                      </a:r>
                      <a:endParaRPr lang="en-US" sz="135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8038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python start.py</a:t>
                      </a:r>
                      <a:endParaRPr lang="en-US" sz="135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Launcher used by tasks.json: installs, then starts the server</a:t>
                      </a:r>
                      <a:endParaRPr lang="en-US" sz="135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8038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python -m uvicorn backend:app --reload --port 8000</a:t>
                      </a:r>
                      <a:endParaRPr lang="en-US" sz="135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Manual way to start the API on port 8000</a:t>
                      </a:r>
                      <a:endParaRPr lang="en-US" sz="135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00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http://127.0.0.1:8000/api/health</a:t>
                      </a:r>
                      <a:endParaRPr lang="en-US" sz="135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Browser check; expect "ai":"ollama" in the reply</a:t>
                      </a:r>
                      <a:endParaRPr lang="en-US" sz="135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E6F0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906000" y="0"/>
            <a:ext cx="952500" cy="952500"/>
          </a:xfrm>
          <a:prstGeom prst="roundRect">
            <a:avLst>
              <a:gd name="adj" fmla="val 50000"/>
            </a:avLst>
          </a:prstGeom>
          <a:solidFill>
            <a:srgbClr val="CFE3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0795000" y="254000"/>
            <a:ext cx="571500" cy="571500"/>
          </a:xfrm>
          <a:prstGeom prst="roundRect">
            <a:avLst>
              <a:gd name="adj" fmla="val 50000"/>
            </a:avLst>
          </a:prstGeom>
          <a:solidFill>
            <a:srgbClr val="C9ECD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9398000" y="44450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FBD9B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0" y="952500"/>
            <a:ext cx="4064000" cy="50800"/>
          </a:xfrm>
          <a:prstGeom prst="rect">
            <a:avLst/>
          </a:prstGeom>
          <a:solidFill>
            <a:srgbClr val="7DB3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064000" y="952500"/>
            <a:ext cx="4064000" cy="50800"/>
          </a:xfrm>
          <a:prstGeom prst="rect">
            <a:avLst/>
          </a:prstGeom>
          <a:solidFill>
            <a:srgbClr val="7FD1A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8128000" y="952500"/>
            <a:ext cx="4064000" cy="50800"/>
          </a:xfrm>
          <a:prstGeom prst="rect">
            <a:avLst/>
          </a:prstGeom>
          <a:solidFill>
            <a:srgbClr val="F6B4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itle 9"/>
          <p:cNvSpPr>
            <a:spLocks noGrp="1"/>
          </p:cNvSpPr>
          <p:nvPr>
            <p:ph type="title" idx="4294967295"/>
          </p:nvPr>
        </p:nvSpPr>
        <p:spPr>
          <a:xfrm>
            <a:off x="812800" y="292100"/>
            <a:ext cx="850265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2747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Commands Used: Troubleshooting &amp; Fixes</a:t>
            </a:r>
          </a:p>
        </p:txBody>
      </p:sp>
      <p:sp>
        <p:nvSpPr>
          <p:cNvPr id="10" name="Footer 10"/>
          <p:cNvSpPr txBox="1"/>
          <p:nvPr/>
        </p:nvSpPr>
        <p:spPr>
          <a:xfrm>
            <a:off x="812800" y="6238241"/>
            <a:ext cx="45783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0" i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ZapStream · Project Presentation</a:t>
            </a:r>
          </a:p>
        </p:txBody>
      </p:sp>
      <p:sp>
        <p:nvSpPr>
          <p:cNvPr id="11" name="Footer 11"/>
          <p:cNvSpPr txBox="1"/>
          <p:nvPr/>
        </p:nvSpPr>
        <p:spPr>
          <a:xfrm>
            <a:off x="10058400" y="6238241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1200" b="0" i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18</a:t>
            </a:r>
          </a:p>
        </p:txBody>
      </p:sp>
      <p:sp>
        <p:nvSpPr>
          <p:cNvPr id="14" name="Card 10"/>
          <p:cNvSpPr/>
          <p:nvPr/>
        </p:nvSpPr>
        <p:spPr>
          <a:xfrm>
            <a:off x="820440" y="1390000"/>
            <a:ext cx="10560000" cy="3293532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endParaRPr lang="en-IN"/>
          </a:p>
        </p:txBody>
      </p:sp>
      <p:graphicFrame>
        <p:nvGraphicFramePr>
          <p:cNvPr id="15" name="Table 11"/>
          <p:cNvGraphicFramePr>
            <a:graphicFrameLocks noGrp="1"/>
          </p:cNvGraphicFramePr>
          <p:nvPr/>
        </p:nvGraphicFramePr>
        <p:xfrm>
          <a:off x="980440" y="1500000"/>
          <a:ext cx="10240000" cy="3073532"/>
        </p:xfrm>
        <a:graphic>
          <a:graphicData uri="http://schemas.openxmlformats.org/drawingml/2006/table">
            <a:tbl>
              <a:tblPr/>
              <a:tblGrid>
                <a:gridCol w="2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00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dirty="0">
                          <a:solidFill>
                            <a:srgbClr val="2747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Problem</a:t>
                      </a:r>
                      <a:endParaRPr lang="en-US" sz="140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  <a:solidFill>
                      <a:srgbClr val="E3EF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dirty="0">
                          <a:solidFill>
                            <a:srgbClr val="2747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Command</a:t>
                      </a:r>
                      <a:endParaRPr lang="en-US" sz="140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  <a:solidFill>
                      <a:srgbClr val="E3EF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dirty="0">
                          <a:solidFill>
                            <a:srgbClr val="2747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Result</a:t>
                      </a:r>
                      <a:endParaRPr lang="en-US" sz="140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  <a:solidFill>
                      <a:srgbClr val="E3EF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dirty="0">
                          <a:solidFill>
                            <a:srgbClr val="2747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 ffmpeg installed?</a:t>
                      </a:r>
                      <a:endParaRPr lang="en-US" sz="140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ffmpeg -version</a:t>
                      </a:r>
                      <a:endParaRPr lang="en-US" sz="140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Version details appear</a:t>
                      </a:r>
                      <a:endParaRPr lang="en-US" sz="140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dirty="0">
                          <a:solidFill>
                            <a:srgbClr val="2747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 Ollama installed?</a:t>
                      </a:r>
                      <a:endParaRPr lang="en-US" sz="140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ollama --version</a:t>
                      </a:r>
                      <a:endParaRPr lang="en-US" sz="140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Version number appears</a:t>
                      </a:r>
                      <a:endParaRPr lang="en-US" sz="140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dirty="0">
                          <a:solidFill>
                            <a:srgbClr val="2747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Port 8000 is busy</a:t>
                      </a:r>
                      <a:endParaRPr lang="en-US" sz="140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netstat -ano | findstr :8000</a:t>
                      </a:r>
                      <a:endParaRPr lang="en-US" sz="140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PID shown on the LISTENING line</a:t>
                      </a:r>
                      <a:endParaRPr lang="en-US" sz="140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dirty="0">
                          <a:solidFill>
                            <a:srgbClr val="2747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Stop the old server</a:t>
                      </a:r>
                      <a:endParaRPr lang="en-US" sz="140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taskkill /PID &lt;PID&gt; /F</a:t>
                      </a:r>
                      <a:endParaRPr lang="en-US" sz="140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Port is free for the new server</a:t>
                      </a:r>
                      <a:endParaRPr lang="en-US" sz="140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3532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dirty="0">
                          <a:solidFill>
                            <a:srgbClr val="2747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Downloads start failing</a:t>
                      </a:r>
                      <a:endParaRPr lang="en-US" sz="140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python -m pip install -U yt-dlp</a:t>
                      </a:r>
                      <a:endParaRPr lang="en-US" sz="140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Latest yt-dlp handles site changes</a:t>
                      </a:r>
                      <a:endParaRPr lang="en-US" sz="140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Text 12"/>
          <p:cNvSpPr txBox="1"/>
          <p:nvPr/>
        </p:nvSpPr>
        <p:spPr>
          <a:xfrm>
            <a:off x="812800" y="4863532"/>
            <a:ext cx="10566400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2747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 not found after installing? </a:t>
            </a:r>
            <a:r>
              <a:rPr lang="en-US" sz="1300" b="1" i="0" dirty="0">
                <a:solidFill>
                  <a:srgbClr val="1F2937"/>
                </a:solidFill>
                <a:highlight>
                  <a:srgbClr val="FFF0A8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Reload PATH</a:t>
            </a:r>
            <a:r>
              <a:rPr lang="en-US" sz="1300" b="1" i="0" dirty="0">
                <a:solidFill>
                  <a:srgbClr val="2747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PowerShell:</a:t>
            </a:r>
            <a:endParaRPr lang="en-US" sz="1300" dirty="0"/>
          </a:p>
        </p:txBody>
      </p:sp>
      <p:sp>
        <p:nvSpPr>
          <p:cNvPr id="13" name="Code 13"/>
          <p:cNvSpPr/>
          <p:nvPr/>
        </p:nvSpPr>
        <p:spPr>
          <a:xfrm>
            <a:off x="812800" y="5203532"/>
            <a:ext cx="10566400" cy="6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7DB3F0"/>
            </a:solidFill>
          </a:ln>
        </p:spPr>
        <p:txBody>
          <a:bodyPr wrap="square" lIns="91440" tIns="91440" rIns="91440" bIns="91440" rtlCol="0" anchor="ctr">
            <a:norm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$env:Path = [System.Environment]::GetEnvironmentVariable("Path","Machine") + ";" + [System.Environment]::GetEnvironmentVariable("Path","User")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E6F0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906000" y="0"/>
            <a:ext cx="952500" cy="952500"/>
          </a:xfrm>
          <a:prstGeom prst="roundRect">
            <a:avLst>
              <a:gd name="adj" fmla="val 50000"/>
            </a:avLst>
          </a:prstGeom>
          <a:solidFill>
            <a:srgbClr val="CFE3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0795000" y="254000"/>
            <a:ext cx="571500" cy="571500"/>
          </a:xfrm>
          <a:prstGeom prst="roundRect">
            <a:avLst>
              <a:gd name="adj" fmla="val 50000"/>
            </a:avLst>
          </a:prstGeom>
          <a:solidFill>
            <a:srgbClr val="C9ECD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9398000" y="44450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FBD9B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0" y="952500"/>
            <a:ext cx="4064000" cy="50800"/>
          </a:xfrm>
          <a:prstGeom prst="rect">
            <a:avLst/>
          </a:prstGeom>
          <a:solidFill>
            <a:srgbClr val="7DB3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064000" y="952500"/>
            <a:ext cx="4064000" cy="50800"/>
          </a:xfrm>
          <a:prstGeom prst="rect">
            <a:avLst/>
          </a:prstGeom>
          <a:solidFill>
            <a:srgbClr val="7FD1A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8128000" y="952500"/>
            <a:ext cx="4064000" cy="50800"/>
          </a:xfrm>
          <a:prstGeom prst="rect">
            <a:avLst/>
          </a:prstGeom>
          <a:solidFill>
            <a:srgbClr val="F6B4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>
            <a:spLocks noGrp="1"/>
          </p:cNvSpPr>
          <p:nvPr>
            <p:ph type="title" idx="4294967295"/>
          </p:nvPr>
        </p:nvSpPr>
        <p:spPr>
          <a:xfrm>
            <a:off x="812800" y="292100"/>
            <a:ext cx="850265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2747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/ Output Screenshots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812800" y="6238242"/>
            <a:ext cx="45783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ZapStream · Project Presentation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18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12800" y="1397000"/>
            <a:ext cx="5284724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747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Input: ZapStream web page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19150" y="1748789"/>
            <a:ext cx="5118100" cy="3754120"/>
          </a:xfrm>
          <a:prstGeom prst="roundRect">
            <a:avLst>
              <a:gd name="adj" fmla="val 3214"/>
            </a:avLst>
          </a:prstGeom>
          <a:solidFill>
            <a:srgbClr val="FFFFFF"/>
          </a:solidFill>
          <a:ln w="12700">
            <a:solidFill>
              <a:srgbClr val="9DBBE0"/>
            </a:solidFill>
            <a:prstDash val="dash"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[Add screenshot of the UI]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12800" y="5610864"/>
            <a:ext cx="5284724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link: a 5-minute English tutorial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48400" y="1397000"/>
            <a:ext cx="5284724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747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video details and study PDF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254750" y="1748789"/>
            <a:ext cx="5118100" cy="3754120"/>
          </a:xfrm>
          <a:prstGeom prst="roundRect">
            <a:avLst>
              <a:gd name="adj" fmla="val 3214"/>
            </a:avLst>
          </a:prstGeom>
          <a:solidFill>
            <a:srgbClr val="FFFFFF"/>
          </a:solidFill>
          <a:ln w="12700">
            <a:solidFill>
              <a:srgbClr val="9DBBE0"/>
            </a:solidFill>
            <a:prstDash val="dash"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[Add screenshot of results]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48400" y="5610864"/>
            <a:ext cx="5284724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output: clip or MP3, study PDF</a:t>
            </a:r>
            <a:endParaRPr lang="en-US" sz="13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2FBEF34-4CFB-CDC7-5118-F0B325A5424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231" t="-763" r="18138" b="4964"/>
          <a:stretch>
            <a:fillRect/>
          </a:stretch>
        </p:blipFill>
        <p:spPr>
          <a:xfrm>
            <a:off x="1183456" y="1763635"/>
            <a:ext cx="4207694" cy="374356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18112A7-BF3B-F0F6-D711-9F057D02C6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3067" y="1748789"/>
            <a:ext cx="4487683" cy="37541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E6F0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906000" y="0"/>
            <a:ext cx="952500" cy="952500"/>
          </a:xfrm>
          <a:prstGeom prst="roundRect">
            <a:avLst>
              <a:gd name="adj" fmla="val 50000"/>
            </a:avLst>
          </a:prstGeom>
          <a:solidFill>
            <a:srgbClr val="CFE3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0795000" y="254000"/>
            <a:ext cx="571500" cy="571500"/>
          </a:xfrm>
          <a:prstGeom prst="roundRect">
            <a:avLst>
              <a:gd name="adj" fmla="val 50000"/>
            </a:avLst>
          </a:prstGeom>
          <a:solidFill>
            <a:srgbClr val="C9ECD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9398000" y="44450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FBD9B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0" y="952500"/>
            <a:ext cx="4064000" cy="50800"/>
          </a:xfrm>
          <a:prstGeom prst="rect">
            <a:avLst/>
          </a:prstGeom>
          <a:solidFill>
            <a:srgbClr val="7DB3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064000" y="952500"/>
            <a:ext cx="4064000" cy="50800"/>
          </a:xfrm>
          <a:prstGeom prst="rect">
            <a:avLst/>
          </a:prstGeom>
          <a:solidFill>
            <a:srgbClr val="7FD1A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8128000" y="952500"/>
            <a:ext cx="4064000" cy="50800"/>
          </a:xfrm>
          <a:prstGeom prst="rect">
            <a:avLst/>
          </a:prstGeom>
          <a:solidFill>
            <a:srgbClr val="F6B4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itle 9"/>
          <p:cNvSpPr>
            <a:spLocks noGrp="1"/>
          </p:cNvSpPr>
          <p:nvPr>
            <p:ph type="title" idx="4294967295"/>
          </p:nvPr>
        </p:nvSpPr>
        <p:spPr>
          <a:xfrm>
            <a:off x="812800" y="292100"/>
            <a:ext cx="850265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2747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/ Comparison Matrix</a:t>
            </a:r>
          </a:p>
        </p:txBody>
      </p:sp>
      <p:sp>
        <p:nvSpPr>
          <p:cNvPr id="10" name="Footer 10"/>
          <p:cNvSpPr txBox="1"/>
          <p:nvPr/>
        </p:nvSpPr>
        <p:spPr>
          <a:xfrm>
            <a:off x="812800" y="6238241"/>
            <a:ext cx="45783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0" i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ZapStream · Project Presentation</a:t>
            </a:r>
          </a:p>
        </p:txBody>
      </p:sp>
      <p:sp>
        <p:nvSpPr>
          <p:cNvPr id="11" name="Footer 11"/>
          <p:cNvSpPr txBox="1"/>
          <p:nvPr/>
        </p:nvSpPr>
        <p:spPr>
          <a:xfrm>
            <a:off x="10058400" y="6238241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1200" b="0" i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18</a:t>
            </a:r>
          </a:p>
        </p:txBody>
      </p:sp>
      <p:sp>
        <p:nvSpPr>
          <p:cNvPr id="12" name="Card 10"/>
          <p:cNvSpPr/>
          <p:nvPr/>
        </p:nvSpPr>
        <p:spPr>
          <a:xfrm>
            <a:off x="820440" y="1390000"/>
            <a:ext cx="10560000" cy="41400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endParaRPr lang="en-IN"/>
          </a:p>
        </p:txBody>
      </p:sp>
      <p:graphicFrame>
        <p:nvGraphicFramePr>
          <p:cNvPr id="13" name="Table 11"/>
          <p:cNvGraphicFramePr>
            <a:graphicFrameLocks noGrp="1"/>
          </p:cNvGraphicFramePr>
          <p:nvPr/>
        </p:nvGraphicFramePr>
        <p:xfrm>
          <a:off x="980440" y="1500000"/>
          <a:ext cx="10240000" cy="3920000"/>
        </p:xfrm>
        <a:graphic>
          <a:graphicData uri="http://schemas.openxmlformats.org/drawingml/2006/table">
            <a:tbl>
              <a:tblPr/>
              <a:tblGrid>
                <a:gridCol w="2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4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00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dirty="0">
                          <a:solidFill>
                            <a:srgbClr val="2747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Parameter</a:t>
                      </a:r>
                      <a:endParaRPr lang="en-US" sz="150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  <a:solidFill>
                      <a:srgbClr val="E3EF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dirty="0">
                          <a:solidFill>
                            <a:srgbClr val="2747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Traditional downloader</a:t>
                      </a:r>
                      <a:endParaRPr lang="en-US" sz="150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  <a:solidFill>
                      <a:srgbClr val="E3EF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dirty="0">
                          <a:solidFill>
                            <a:srgbClr val="2747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ZapStream</a:t>
                      </a:r>
                      <a:endParaRPr lang="en-US" sz="150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  <a:solidFill>
                      <a:srgbClr val="E3EF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dirty="0">
                          <a:solidFill>
                            <a:srgbClr val="2747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Video details first</a:t>
                      </a:r>
                      <a:endParaRPr lang="en-US" sz="150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URL and quality only</a:t>
                      </a:r>
                      <a:endParaRPr lang="en-US" sz="150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Title, channel, duration, views, likes</a:t>
                      </a:r>
                      <a:endParaRPr lang="en-US" sz="150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dirty="0">
                          <a:solidFill>
                            <a:srgbClr val="2747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Download a part</a:t>
                      </a:r>
                      <a:endParaRPr lang="en-US" sz="150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available</a:t>
                      </a:r>
                      <a:endParaRPr lang="en-US" sz="150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 and end time cut</a:t>
                      </a:r>
                      <a:endParaRPr lang="en-US" sz="150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dirty="0">
                          <a:solidFill>
                            <a:srgbClr val="2747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Formats</a:t>
                      </a:r>
                      <a:endParaRPr lang="en-US" sz="150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Often limited</a:t>
                      </a:r>
                      <a:endParaRPr lang="en-US" sz="150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MP4 in four qualities, plus MP3</a:t>
                      </a:r>
                      <a:endParaRPr lang="en-US" sz="150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dirty="0">
                          <a:solidFill>
                            <a:srgbClr val="2747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Notes and revision</a:t>
                      </a:r>
                      <a:endParaRPr lang="en-US" sz="150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</a:t>
                      </a:r>
                      <a:endParaRPr lang="en-US" sz="150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Study PDF with concepts, glossary, quiz</a:t>
                      </a:r>
                      <a:endParaRPr lang="en-US" sz="150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dirty="0">
                          <a:solidFill>
                            <a:srgbClr val="2747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Privacy</a:t>
                      </a:r>
                      <a:endParaRPr lang="en-US" sz="150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Cloud tools upload data</a:t>
                      </a:r>
                      <a:endParaRPr lang="en-US" sz="150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Local AI (Ollama) stays on the laptop</a:t>
                      </a:r>
                      <a:endParaRPr lang="en-US" sz="150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dirty="0">
                          <a:solidFill>
                            <a:srgbClr val="2747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Daily effort</a:t>
                      </a:r>
                      <a:endParaRPr lang="en-US" sz="150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Install and run commands</a:t>
                      </a:r>
                      <a:endParaRPr lang="en-US" sz="150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 VS Code, click Go Live</a:t>
                      </a:r>
                      <a:endParaRPr lang="en-US" sz="150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E6F0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906000" y="0"/>
            <a:ext cx="952500" cy="952500"/>
          </a:xfrm>
          <a:prstGeom prst="roundRect">
            <a:avLst>
              <a:gd name="adj" fmla="val 50000"/>
            </a:avLst>
          </a:prstGeom>
          <a:solidFill>
            <a:srgbClr val="CFE3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0795000" y="254000"/>
            <a:ext cx="571500" cy="571500"/>
          </a:xfrm>
          <a:prstGeom prst="roundRect">
            <a:avLst>
              <a:gd name="adj" fmla="val 50000"/>
            </a:avLst>
          </a:prstGeom>
          <a:solidFill>
            <a:srgbClr val="C9ECD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9398000" y="44450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FBD9B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0" y="952500"/>
            <a:ext cx="4064000" cy="50800"/>
          </a:xfrm>
          <a:prstGeom prst="rect">
            <a:avLst/>
          </a:prstGeom>
          <a:solidFill>
            <a:srgbClr val="7DB3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064000" y="952500"/>
            <a:ext cx="4064000" cy="50800"/>
          </a:xfrm>
          <a:prstGeom prst="rect">
            <a:avLst/>
          </a:prstGeom>
          <a:solidFill>
            <a:srgbClr val="7FD1A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8128000" y="952500"/>
            <a:ext cx="4064000" cy="50800"/>
          </a:xfrm>
          <a:prstGeom prst="rect">
            <a:avLst/>
          </a:prstGeom>
          <a:solidFill>
            <a:srgbClr val="F6B4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itle 9"/>
          <p:cNvSpPr>
            <a:spLocks noGrp="1"/>
          </p:cNvSpPr>
          <p:nvPr>
            <p:ph type="title" idx="4294967295"/>
          </p:nvPr>
        </p:nvSpPr>
        <p:spPr>
          <a:xfrm>
            <a:off x="812800" y="292100"/>
            <a:ext cx="850265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2747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Scope &amp; Enhancements</a:t>
            </a:r>
          </a:p>
        </p:txBody>
      </p:sp>
      <p:sp>
        <p:nvSpPr>
          <p:cNvPr id="10" name="Footer 10"/>
          <p:cNvSpPr txBox="1"/>
          <p:nvPr/>
        </p:nvSpPr>
        <p:spPr>
          <a:xfrm>
            <a:off x="812800" y="6238241"/>
            <a:ext cx="45783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0" i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ZapStream · Project Presentation</a:t>
            </a:r>
          </a:p>
        </p:txBody>
      </p:sp>
      <p:sp>
        <p:nvSpPr>
          <p:cNvPr id="11" name="Footer 11"/>
          <p:cNvSpPr txBox="1"/>
          <p:nvPr/>
        </p:nvSpPr>
        <p:spPr>
          <a:xfrm>
            <a:off x="10058400" y="6238241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1200" b="0" i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18</a:t>
            </a:r>
          </a:p>
        </p:txBody>
      </p:sp>
      <p:sp>
        <p:nvSpPr>
          <p:cNvPr id="12" name="Card 10"/>
          <p:cNvSpPr/>
          <p:nvPr/>
        </p:nvSpPr>
        <p:spPr>
          <a:xfrm>
            <a:off x="820440" y="1390000"/>
            <a:ext cx="10560000" cy="39400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endParaRPr lang="en-IN"/>
          </a:p>
        </p:txBody>
      </p:sp>
      <p:graphicFrame>
        <p:nvGraphicFramePr>
          <p:cNvPr id="13" name="Table 11"/>
          <p:cNvGraphicFramePr>
            <a:graphicFrameLocks noGrp="1"/>
          </p:cNvGraphicFramePr>
          <p:nvPr/>
        </p:nvGraphicFramePr>
        <p:xfrm>
          <a:off x="980440" y="1500000"/>
          <a:ext cx="10240000" cy="3720000"/>
        </p:xfrm>
        <a:graphic>
          <a:graphicData uri="http://schemas.openxmlformats.org/drawingml/2006/table">
            <a:tbl>
              <a:tblPr/>
              <a:tblGrid>
                <a:gridCol w="43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00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dirty="0">
                          <a:solidFill>
                            <a:srgbClr val="2747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Enhancement</a:t>
                      </a:r>
                      <a:endParaRPr lang="en-US" sz="160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  <a:solidFill>
                      <a:srgbClr val="E3EF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dirty="0">
                          <a:solidFill>
                            <a:srgbClr val="2747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Benefit</a:t>
                      </a:r>
                      <a:endParaRPr lang="en-US" sz="160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  <a:solidFill>
                      <a:srgbClr val="E3EF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dirty="0">
                          <a:solidFill>
                            <a:srgbClr val="2747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Better Hindi and multi-language notes</a:t>
                      </a:r>
                      <a:endParaRPr lang="en-US" sz="160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Supports more regional-language lectures</a:t>
                      </a:r>
                      <a:endParaRPr lang="en-US" sz="160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dirty="0">
                          <a:solidFill>
                            <a:srgbClr val="2747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Flashcards and printable quiz sheets</a:t>
                      </a:r>
                      <a:endParaRPr lang="en-US" sz="160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Faster self-testing before exams</a:t>
                      </a:r>
                      <a:endParaRPr lang="en-US" sz="160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dirty="0">
                          <a:solidFill>
                            <a:srgbClr val="2747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Playlist to full-course notes</a:t>
                      </a:r>
                      <a:endParaRPr lang="en-US" sz="160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PDF for an entire course</a:t>
                      </a:r>
                      <a:endParaRPr lang="en-US" sz="160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dirty="0">
                          <a:solidFill>
                            <a:srgbClr val="2747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Browser extension</a:t>
                      </a:r>
                      <a:endParaRPr lang="en-US" sz="160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 from the video page itself</a:t>
                      </a:r>
                      <a:endParaRPr lang="en-US" sz="160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dirty="0">
                          <a:solidFill>
                            <a:srgbClr val="2747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Cloud deployment with login</a:t>
                      </a:r>
                      <a:endParaRPr lang="en-US" sz="160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 ZapStream from any device</a:t>
                      </a:r>
                      <a:endParaRPr lang="en-US" sz="1600" dirty="0"/>
                    </a:p>
                  </a:txBody>
                  <a:tcPr marL="72000" marR="72000" marT="50000" marB="50000" anchor="ctr">
                    <a:lnL w="12700" cap="flat" cmpd="sng" algn="ctr">
                      <a:solidFill>
                        <a:srgbClr val="CBCBCB"/>
                      </a:solidFill>
                      <a:prstDash val="soli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E6F0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906000" y="0"/>
            <a:ext cx="952500" cy="952500"/>
          </a:xfrm>
          <a:prstGeom prst="roundRect">
            <a:avLst>
              <a:gd name="adj" fmla="val 50000"/>
            </a:avLst>
          </a:prstGeom>
          <a:solidFill>
            <a:srgbClr val="CFE3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0795000" y="254000"/>
            <a:ext cx="571500" cy="571500"/>
          </a:xfrm>
          <a:prstGeom prst="roundRect">
            <a:avLst>
              <a:gd name="adj" fmla="val 50000"/>
            </a:avLst>
          </a:prstGeom>
          <a:solidFill>
            <a:srgbClr val="C9ECD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9398000" y="44450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FBD9B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0" y="952500"/>
            <a:ext cx="4064000" cy="50800"/>
          </a:xfrm>
          <a:prstGeom prst="rect">
            <a:avLst/>
          </a:prstGeom>
          <a:solidFill>
            <a:srgbClr val="7DB3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064000" y="952500"/>
            <a:ext cx="4064000" cy="50800"/>
          </a:xfrm>
          <a:prstGeom prst="rect">
            <a:avLst/>
          </a:prstGeom>
          <a:solidFill>
            <a:srgbClr val="7FD1A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8128000" y="952500"/>
            <a:ext cx="4064000" cy="50800"/>
          </a:xfrm>
          <a:prstGeom prst="rect">
            <a:avLst/>
          </a:prstGeom>
          <a:solidFill>
            <a:srgbClr val="F6B4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itle 9"/>
          <p:cNvSpPr>
            <a:spLocks noGrp="1"/>
          </p:cNvSpPr>
          <p:nvPr>
            <p:ph type="title" idx="4294967295"/>
          </p:nvPr>
        </p:nvSpPr>
        <p:spPr>
          <a:xfrm>
            <a:off x="812800" y="292100"/>
            <a:ext cx="850265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2747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Key Takeaways</a:t>
            </a:r>
          </a:p>
        </p:txBody>
      </p:sp>
      <p:sp>
        <p:nvSpPr>
          <p:cNvPr id="10" name="Footer 10"/>
          <p:cNvSpPr txBox="1"/>
          <p:nvPr/>
        </p:nvSpPr>
        <p:spPr>
          <a:xfrm>
            <a:off x="812800" y="6238241"/>
            <a:ext cx="45783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0" i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ZapStream · Project Presentation</a:t>
            </a:r>
          </a:p>
        </p:txBody>
      </p:sp>
      <p:sp>
        <p:nvSpPr>
          <p:cNvPr id="11" name="Footer 11"/>
          <p:cNvSpPr txBox="1"/>
          <p:nvPr/>
        </p:nvSpPr>
        <p:spPr>
          <a:xfrm>
            <a:off x="10058400" y="6238241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1200" b="0" i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18</a:t>
            </a:r>
          </a:p>
        </p:txBody>
      </p:sp>
      <p:sp>
        <p:nvSpPr>
          <p:cNvPr id="20" name="Card 10"/>
          <p:cNvSpPr/>
          <p:nvPr/>
        </p:nvSpPr>
        <p:spPr>
          <a:xfrm>
            <a:off x="812800" y="1397000"/>
            <a:ext cx="3352800" cy="3300000"/>
          </a:xfrm>
          <a:prstGeom prst="roundRect">
            <a:avLst>
              <a:gd name="adj" fmla="val 2857"/>
            </a:avLst>
          </a:prstGeom>
          <a:solidFill>
            <a:srgbClr val="FDEBDC"/>
          </a:solidFill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endParaRPr lang="en-IN"/>
          </a:p>
        </p:txBody>
      </p:sp>
      <p:sp>
        <p:nvSpPr>
          <p:cNvPr id="21" name="Text 11"/>
          <p:cNvSpPr txBox="1"/>
          <p:nvPr/>
        </p:nvSpPr>
        <p:spPr>
          <a:xfrm>
            <a:off x="1002800" y="1617000"/>
            <a:ext cx="2972800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spcAft>
                <a:spcPts val="0"/>
              </a:spcAft>
              <a:buNone/>
            </a:pPr>
            <a:r>
              <a:rPr lang="en-US" sz="1700" b="1" i="0" dirty="0">
                <a:solidFill>
                  <a:srgbClr val="2747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Problem</a:t>
            </a:r>
            <a:endParaRPr lang="en-US" sz="1700" dirty="0"/>
          </a:p>
        </p:txBody>
      </p:sp>
      <p:sp>
        <p:nvSpPr>
          <p:cNvPr id="12" name="Text 12"/>
          <p:cNvSpPr txBox="1"/>
          <p:nvPr/>
        </p:nvSpPr>
        <p:spPr>
          <a:xfrm>
            <a:off x="1002800" y="2197000"/>
            <a:ext cx="2972800" cy="2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tutorials waste time and data. Students need one part and good notes, but tools only save whole files.</a:t>
            </a:r>
            <a:endParaRPr lang="en-US" sz="1600" dirty="0"/>
          </a:p>
        </p:txBody>
      </p:sp>
      <p:sp>
        <p:nvSpPr>
          <p:cNvPr id="13" name="Card 13"/>
          <p:cNvSpPr/>
          <p:nvPr/>
        </p:nvSpPr>
        <p:spPr>
          <a:xfrm>
            <a:off x="4419600" y="1397000"/>
            <a:ext cx="3352800" cy="3300000"/>
          </a:xfrm>
          <a:prstGeom prst="roundRect">
            <a:avLst>
              <a:gd name="adj" fmla="val 2857"/>
            </a:avLst>
          </a:prstGeom>
          <a:solidFill>
            <a:srgbClr val="E3EFFD"/>
          </a:solidFill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endParaRPr lang="en-IN"/>
          </a:p>
        </p:txBody>
      </p:sp>
      <p:sp>
        <p:nvSpPr>
          <p:cNvPr id="14" name="Text 14"/>
          <p:cNvSpPr txBox="1"/>
          <p:nvPr/>
        </p:nvSpPr>
        <p:spPr>
          <a:xfrm>
            <a:off x="4609600" y="1617000"/>
            <a:ext cx="2972800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spcAft>
                <a:spcPts val="0"/>
              </a:spcAft>
              <a:buNone/>
            </a:pPr>
            <a:r>
              <a:rPr lang="en-US" sz="1700" b="1" i="0" dirty="0">
                <a:solidFill>
                  <a:srgbClr val="2747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Solution</a:t>
            </a:r>
            <a:endParaRPr lang="en-US" sz="1700" dirty="0"/>
          </a:p>
        </p:txBody>
      </p:sp>
      <p:sp>
        <p:nvSpPr>
          <p:cNvPr id="15" name="Text 15"/>
          <p:cNvSpPr txBox="1"/>
          <p:nvPr/>
        </p:nvSpPr>
        <p:spPr>
          <a:xfrm>
            <a:off x="4609600" y="2197000"/>
            <a:ext cx="2972800" cy="2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ZapStream shows video details, downloads the full video, one part or MP3, and writes a study PDF with a local AI.</a:t>
            </a:r>
            <a:endParaRPr lang="en-US" sz="1600" dirty="0"/>
          </a:p>
        </p:txBody>
      </p:sp>
      <p:sp>
        <p:nvSpPr>
          <p:cNvPr id="16" name="Card 16"/>
          <p:cNvSpPr/>
          <p:nvPr/>
        </p:nvSpPr>
        <p:spPr>
          <a:xfrm>
            <a:off x="8026400" y="1397000"/>
            <a:ext cx="3352800" cy="3300000"/>
          </a:xfrm>
          <a:prstGeom prst="roundRect">
            <a:avLst>
              <a:gd name="adj" fmla="val 2857"/>
            </a:avLst>
          </a:prstGeom>
          <a:solidFill>
            <a:srgbClr val="DEF4EA"/>
          </a:solidFill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endParaRPr lang="en-IN"/>
          </a:p>
        </p:txBody>
      </p:sp>
      <p:sp>
        <p:nvSpPr>
          <p:cNvPr id="17" name="Text 17"/>
          <p:cNvSpPr txBox="1"/>
          <p:nvPr/>
        </p:nvSpPr>
        <p:spPr>
          <a:xfrm>
            <a:off x="8216400" y="1617000"/>
            <a:ext cx="2972800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spcAft>
                <a:spcPts val="0"/>
              </a:spcAft>
              <a:buNone/>
            </a:pPr>
            <a:r>
              <a:rPr lang="en-US" sz="1700" b="1" i="0" dirty="0">
                <a:solidFill>
                  <a:srgbClr val="2747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Impact</a:t>
            </a:r>
            <a:endParaRPr lang="en-US" sz="1700" dirty="0"/>
          </a:p>
        </p:txBody>
      </p:sp>
      <p:sp>
        <p:nvSpPr>
          <p:cNvPr id="18" name="Text 18"/>
          <p:cNvSpPr txBox="1"/>
          <p:nvPr/>
        </p:nvSpPr>
        <p:spPr>
          <a:xfrm>
            <a:off x="8216400" y="2197000"/>
            <a:ext cx="2972800" cy="2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revision, lower data use and free, private AI. Supports SDG 4 (Quality Education) and SDG 9 (Innovation).</a:t>
            </a:r>
            <a:endParaRPr lang="en-US" sz="1600" dirty="0"/>
          </a:p>
        </p:txBody>
      </p:sp>
      <p:sp>
        <p:nvSpPr>
          <p:cNvPr id="19" name="Callout 19"/>
          <p:cNvSpPr/>
          <p:nvPr/>
        </p:nvSpPr>
        <p:spPr>
          <a:xfrm>
            <a:off x="812800" y="4950000"/>
            <a:ext cx="10566400" cy="900000"/>
          </a:xfrm>
          <a:prstGeom prst="roundRect">
            <a:avLst>
              <a:gd name="adj" fmla="val 9000"/>
            </a:avLst>
          </a:prstGeom>
          <a:solidFill>
            <a:srgbClr val="FEF3C7"/>
          </a:solidFill>
          <a:ln>
            <a:noFill/>
          </a:ln>
        </p:spPr>
        <p:txBody>
          <a:bodyPr wrap="square" lIns="182880" tIns="182880" rIns="182880" bIns="182880" rtlCol="0" anchor="ctr">
            <a:norm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1F2937"/>
                </a:solidFill>
                <a:highlight>
                  <a:srgbClr val="FFF0A8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Key takeaway:</a:t>
            </a:r>
            <a:r>
              <a:rPr lang="en-US" sz="15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ZapStream turns any tutorial link into a </a:t>
            </a:r>
            <a:r>
              <a:rPr lang="en-US" sz="1500" b="1" i="0" dirty="0">
                <a:solidFill>
                  <a:srgbClr val="1D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clip and a study PDF</a:t>
            </a:r>
            <a:r>
              <a:rPr lang="en-US" sz="15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in one click, on the student’s own laptop.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AF3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55000" y="952500"/>
            <a:ext cx="3302000" cy="3302000"/>
          </a:xfrm>
          <a:prstGeom prst="roundRect">
            <a:avLst>
              <a:gd name="adj" fmla="val 49231"/>
            </a:avLst>
          </a:prstGeom>
          <a:solidFill>
            <a:srgbClr val="CFE3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906000" y="3937000"/>
            <a:ext cx="1778000" cy="1778000"/>
          </a:xfrm>
          <a:prstGeom prst="roundRect">
            <a:avLst>
              <a:gd name="adj" fmla="val 50000"/>
            </a:avLst>
          </a:prstGeom>
          <a:solidFill>
            <a:srgbClr val="C9ECD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874000" y="4445000"/>
            <a:ext cx="1143000" cy="1143000"/>
          </a:xfrm>
          <a:prstGeom prst="roundRect">
            <a:avLst>
              <a:gd name="adj" fmla="val 50000"/>
            </a:avLst>
          </a:prstGeom>
          <a:solidFill>
            <a:srgbClr val="FBD9B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>
            <a:spLocks noGrp="1"/>
          </p:cNvSpPr>
          <p:nvPr>
            <p:ph type="title" idx="4294967295"/>
          </p:nvPr>
        </p:nvSpPr>
        <p:spPr>
          <a:xfrm>
            <a:off x="812800" y="2446021"/>
            <a:ext cx="719455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160"/>
              </a:lnSpc>
              <a:buNone/>
            </a:pPr>
            <a:r>
              <a:rPr lang="en-US" sz="5600" b="1" i="0" dirty="0">
                <a:solidFill>
                  <a:srgbClr val="2747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5600" dirty="0"/>
          </a:p>
        </p:txBody>
      </p:sp>
      <p:pic>
        <p:nvPicPr>
          <p:cNvPr id="6" name="Image 0" descr="line"/>
          <p:cNvPicPr>
            <a:picLocks noChangeAspect="1"/>
          </p:cNvPicPr>
          <p:nvPr/>
        </p:nvPicPr>
        <p:blipFill>
          <a:blip r:embed="rId3"/>
          <a:srcRect l="-12500" r="-12500"/>
          <a:stretch/>
        </p:blipFill>
        <p:spPr>
          <a:xfrm>
            <a:off x="812800" y="3406142"/>
            <a:ext cx="10566400" cy="101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800" y="3594100"/>
            <a:ext cx="719455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3D5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and feedback are welcome.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12800" y="4163064"/>
            <a:ext cx="71945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3B8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ARUN, ASHUTOSH SINGH · 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martSnip – Project Presentation">
  <a:themeElements>
    <a:clrScheme name="SmartSnip – Project Presentation">
      <a:dk1>
        <a:srgbClr val="64748B"/>
      </a:dk1>
      <a:lt1>
        <a:srgbClr val="F7FAFF"/>
      </a:lt1>
      <a:dk2>
        <a:srgbClr val="8996A8"/>
      </a:dk2>
      <a:lt2>
        <a:srgbClr val="E8EDF3"/>
      </a:lt2>
      <a:accent1>
        <a:srgbClr val="27476E"/>
      </a:accent1>
      <a:accent2>
        <a:srgbClr val="CFE3FA"/>
      </a:accent2>
      <a:accent3>
        <a:srgbClr val="FBD9BD"/>
      </a:accent3>
      <a:accent4>
        <a:srgbClr val="3B82C4"/>
      </a:accent4>
      <a:accent5>
        <a:srgbClr val="7DB3F0"/>
      </a:accent5>
      <a:accent6>
        <a:srgbClr val="7FD1AE"/>
      </a:accent6>
      <a:hlink>
        <a:srgbClr val="0563C1"/>
      </a:hlink>
      <a:folHlink>
        <a:srgbClr val="954F72"/>
      </a:folHlink>
    </a:clrScheme>
    <a:fontScheme name="SmartSnip – Project Presentation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2080</Words>
  <Application>Microsoft Office PowerPoint</Application>
  <PresentationFormat>Widescreen</PresentationFormat>
  <Paragraphs>328</Paragraphs>
  <Slides>18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Courier New</vt:lpstr>
      <vt:lpstr>SmartSnip – Project Presentation</vt:lpstr>
      <vt:lpstr>ZapStream</vt:lpstr>
      <vt:lpstr>Problem Statement &amp; Motivation</vt:lpstr>
      <vt:lpstr>Proposed Solution &amp; Objectives</vt:lpstr>
      <vt:lpstr>Unique Selling Proposition &amp; Key Features</vt:lpstr>
      <vt:lpstr>System Architecture / High-Level Design</vt:lpstr>
      <vt:lpstr>Tech Stack &amp; Tools Used</vt:lpstr>
      <vt:lpstr>Project Structure &amp; Startup Flow</vt:lpstr>
      <vt:lpstr>Code Summary: backend.py (API)</vt:lpstr>
      <vt:lpstr>Code Summary: Study Notes Pipeline</vt:lpstr>
      <vt:lpstr>Code Summary: index.html (Frontend)</vt:lpstr>
      <vt:lpstr>Code Summary: Automation Files</vt:lpstr>
      <vt:lpstr>Commands Used: Setup &amp; Run</vt:lpstr>
      <vt:lpstr>Commands Used: Troubleshooting &amp; Fixes</vt:lpstr>
      <vt:lpstr>Live Demo / Output Screenshots</vt:lpstr>
      <vt:lpstr>Performance / Comparison Matrix</vt:lpstr>
      <vt:lpstr>Future Scope &amp; Enhancements</vt:lpstr>
      <vt:lpstr>Conclusion &amp; Key Takeaways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SmartSnip – Project Presentation</dc:title>
  <dc:subject/>
  <dc:creator/>
  <cp:lastModifiedBy>Arun 606</cp:lastModifiedBy>
  <cp:revision>3</cp:revision>
  <dcterms:created xsi:type="dcterms:W3CDTF">2026-10-12T18:39:37Z</dcterms:created>
  <dcterms:modified xsi:type="dcterms:W3CDTF">2026-10-21T09:03:51Z</dcterms:modified>
</cp:coreProperties>
</file>